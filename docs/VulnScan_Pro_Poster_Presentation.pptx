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VulnScan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E5FF"/>
                </a:solidFill>
                <a:latin typeface="Calibri"/>
              </a:defRPr>
            </a:pPr>
            <a:r>
              <a:t>Automated Web Vulnerability Assessment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3474720"/>
            <a:ext cx="2743200" cy="27432"/>
          </a:xfrm>
          <a:prstGeom prst="roundRect">
            <a:avLst/>
          </a:prstGeom>
          <a:solidFill>
            <a:srgbClr val="00B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 modular, open-source platform for comprehensive web security auditing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BFA6"/>
                </a:solidFill>
                <a:latin typeface="Calibri"/>
              </a:defRPr>
            </a:pPr>
            <a:r>
              <a:t>Python  •  Flask  •  SQLAlchemy  •  BeautifulSoup  •  ReportLab  • 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01 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8F0"/>
                </a:solidFill>
                <a:latin typeface="Calibri"/>
              </a:defRPr>
            </a:pPr>
            <a:r>
              <a:t>Web applications are the primary interface for businesses, governments, and individuals on the internet, making them a prime target for cyber attacks. As the threat landscape evolves with increasing sophistication, manual security assessments are no longer sufficient to keep pace with the volume and complexity of vulnerabilities.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8F0"/>
                </a:solidFill>
                <a:latin typeface="Calibri"/>
              </a:defRPr>
            </a:pPr>
            <a:r>
              <a:t>VulnScan Pro is an automated, modular web vulnerability assessment system designed to perform comprehensive security audits of web applications. Inspired by industry-standard tools like Tenable Nessus, it provides an integrated platform that combines multiple scanning techniques — from port scanning and SSL/TLS inspection to injection testing and JavaScript analysis — into a single, easy-to-use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10+ Scanner</a:t>
            </a:r>
            <a:br/>
            <a:r>
              <a:t>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Security Score</a:t>
            </a:r>
            <a:br/>
            <a:r>
              <a:t>(A–F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OWASP Top 10</a:t>
            </a:r>
            <a:br/>
            <a:r>
              <a:t>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PDF Report</a:t>
            </a:r>
            <a:br/>
            <a:r>
              <a:t>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206240"/>
            <a:ext cx="1737360" cy="146304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43434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0E8F0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846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Real-Time</a:t>
            </a:r>
            <a:br/>
            <a:r>
              <a:t>SSE Streaming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02 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52120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9784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➊  Automate Vulnerability Detection — Build an end-to-end system that automatically identifies XSS, SQL Injection, insecure headers, weak SSL/TLS, and exposed services.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➋  Modular &amp; Extensible Architecture — Design a plug-and-play scanner where each module operates independently and can be selected per scan.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➌  OWASP Top 10 Compliance Mapping — Map every finding to OWASP Top 10 (2021) categories with CWE IDs and CVSS scores.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➍  Quantified Security Scoring — Implement a severity-weighted scoring engine computing a grade (A–F) from 0–100.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➎  Professional Reporting — Generate detailed PDF reports with categorized findings, severity levels, and remediation recommendations.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➏  Real-Time Scan Monitoring — Provide live progress via Server-Sent Events (SSE) streaming.</a:t>
            </a:r>
          </a:p>
          <a:p>
            <a:pPr>
              <a:spcAft>
                <a:spcPts val="12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➐  Notification Integration — Support Slack webhook and email notifications upon scan completion.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03 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2286000"/>
          </a:xfrm>
          <a:prstGeom prst="roundRect">
            <a:avLst/>
          </a:prstGeom>
          <a:solidFill>
            <a:srgbClr val="121A2D"/>
          </a:solidFill>
          <a:ln w="25400">
            <a:solidFill>
              <a:srgbClr val="F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4444"/>
                </a:solidFill>
                <a:latin typeface="Calibri"/>
              </a:defRPr>
            </a:pPr>
            <a:r>
              <a:t>40%+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8F0"/>
                </a:solidFill>
                <a:latin typeface="Calibri"/>
              </a:defRPr>
            </a:pPr>
            <a:r>
              <a:t>of data breaches</a:t>
            </a:r>
            <a:br/>
            <a:r>
              <a:t>target web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Verizon DBIR 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188720"/>
            <a:ext cx="2560320" cy="2286000"/>
          </a:xfrm>
          <a:prstGeom prst="roundRect">
            <a:avLst/>
          </a:prstGeom>
          <a:solidFill>
            <a:srgbClr val="121A2D"/>
          </a:solidFill>
          <a:ln w="2540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F1C"/>
                </a:solidFill>
                <a:latin typeface="Calibri"/>
              </a:defRPr>
            </a:pPr>
            <a:r>
              <a:t>$4.88M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8F0"/>
                </a:solidFill>
                <a:latin typeface="Calibri"/>
              </a:defRPr>
            </a:pPr>
            <a:r>
              <a:t>average cost of</a:t>
            </a:r>
            <a:br/>
            <a:r>
              <a:t>a data breach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IBM Security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88720"/>
            <a:ext cx="2560320" cy="2286000"/>
          </a:xfrm>
          <a:prstGeom prst="roundRect">
            <a:avLst/>
          </a:prstGeom>
          <a:solidFill>
            <a:srgbClr val="121A2D"/>
          </a:solidFill>
          <a:ln w="25400">
            <a:solidFill>
              <a:srgbClr val="FFD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600"/>
                </a:solidFill>
                <a:latin typeface="Calibri"/>
              </a:defRPr>
            </a:pPr>
            <a:r>
              <a:t>10+ yrs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8F0"/>
                </a:solidFill>
                <a:latin typeface="Calibri"/>
              </a:defRPr>
            </a:pPr>
            <a:r>
              <a:t>XSS &amp; SQLi in</a:t>
            </a:r>
            <a:br/>
            <a:r>
              <a:t>OWASP Top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OWASP Foundation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188720"/>
            <a:ext cx="2560320" cy="2286000"/>
          </a:xfrm>
          <a:prstGeom prst="roundRect">
            <a:avLst/>
          </a:prstGeom>
          <a:solidFill>
            <a:srgbClr val="121A2D"/>
          </a:solidFill>
          <a:ln w="25400">
            <a:solidFill>
              <a:srgbClr val="00B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371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FF3"/>
                </a:solidFill>
                <a:latin typeface="Calibri"/>
              </a:defRPr>
            </a:pPr>
            <a:r>
              <a:t>$$$$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0E8F0"/>
                </a:solidFill>
                <a:latin typeface="Calibri"/>
              </a:defRPr>
            </a:pPr>
            <a:r>
              <a:t>commercial tools</a:t>
            </a:r>
            <a:br/>
            <a:r>
              <a:t>are expensive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926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Nessus, Burp Suite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0698480" cy="256032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1480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🔓  Gap in Affordable Tools — Enterprise scanners (Nessus, Burp Suite, Qualys) are expensive. Need for open-source, lightweight alternatives for students, startups, and small teams.</a:t>
            </a:r>
          </a:p>
          <a:p>
            <a:pPr>
              <a:spcAft>
                <a:spcPts val="14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📜  Compliance Requirements — GDPR, PCI-DSS (Req 6.5, 6.6), HIPAA, and ISO 27001 mandate regular security assessments. Automated tools simplify compliance.</a:t>
            </a:r>
          </a:p>
          <a:p>
            <a:pPr>
              <a:spcAft>
                <a:spcPts val="1400"/>
              </a:spcAft>
              <a:defRPr sz="1400">
                <a:solidFill>
                  <a:srgbClr val="E0E8F0"/>
                </a:solidFill>
                <a:latin typeface="Calibri"/>
              </a:defRPr>
            </a:pPr>
            <a:r>
              <a:t>🎓  Educational Value — Building a scanner from scratch provides deep understanding of web security, network protocols, and offensive security techniques.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04 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Phase 1: Information Gathering  →  Phase 2: Vulnerability Assessment  →  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A6"/>
                </a:solidFill>
                <a:latin typeface="Calibri"/>
              </a:defRPr>
            </a:pPr>
            <a:r>
              <a:t>PHASE 1 — Information Gathering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Port Scanner — TCP connect scan on top 30+ common ports using 50 concurrent threads. Identifies open services &amp; flags dangerous ports (FTP, Telnet, DB ports).</a:t>
            </a:r>
          </a:p>
          <a:p>
            <a:pPr>
              <a:spcAft>
                <a:spcPts val="14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DNS Recon — Enumerates A, AAAA, MX, NS, TXT, SOA records. Tests for zone transfer vulnerability. Checks SPF &amp; DMARC presence.</a:t>
            </a:r>
          </a:p>
          <a:p>
            <a:pPr>
              <a:spcAft>
                <a:spcPts val="14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Tech Fingerprinting — Analyzes HTTP headers (Server, X-Powered-By), HTML meta tags, script sources, and favicon hashes to identify technologies and known CVEs.</a:t>
            </a:r>
          </a:p>
          <a:p>
            <a:pPr>
              <a:spcAft>
                <a:spcPts val="14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Web Crawler — Recursive BFS crawl (depth=2). Extracts all forms with input fields and external JavaScript file URLs for downstream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PHASE 2 — Vulnerability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XSS Scanner — Injects 4 payloads (&lt;script&gt;, &lt;img onerror&gt;, javascript:, &lt;svg/onload&gt;) into form fields. Detects reflected XSS via response body analysis.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SQL Injection Scanner — Tests 5 error-based payloads (OR '1'='1, UNION SELECT, etc.). Detects via SQL error strings and HTTP 500 responses.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Security Headers — Analyzes 8+ HTTP headers: Content-Security-Policy, HSTS, X-Frame-Options, X-Content-Type, Permissions-Policy, etc.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SSL/TLS Scanner — Validates certificates, checks expiry, detects self-signed certs, probes TLS versions (1.0–1.3), identifies weak ciphers (RC4, DES).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JavaScript Analyzer — Static analysis with 20+ regex patterns detecting API keys, hardcoded secrets, internal endpoints, eval() usage.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04  METHODOLOGY (contd.)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Phase 3: Analysis &amp;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47472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FA6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Maps each finding to OWASP Top 10 (2021) categories (A01–A10)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Enriches with CWE ID, CWE Name, CVSS Score, CVSS Vector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Knowledge-base driven via owasp_mapping.json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Intelligent inference engine for unmapped findings</a:t>
            </a:r>
          </a:p>
          <a:p>
            <a:pPr>
              <a:spcAft>
                <a:spcPts val="12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Generates grouped OWASP compliance summary for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88720"/>
            <a:ext cx="329184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5FF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Base score: 100/100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CRITICAL finding: −25 pts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HIGH finding: −15 pts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MEDIUM finding: −8 pts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LOW finding: −3 pts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INFO finding: −1 pt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Letter grade: A (90+), B (80+), C (70+), D (60+), F (&lt;60)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Executive summary auto-generated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1C"/>
                </a:solidFill>
                <a:latin typeface="Calibri"/>
              </a:defRPr>
            </a:pPr>
            <a:r>
              <a:t>PDF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Professional multi-page layout using ReportLab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Executive summary with score &amp; grade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Per-module findings tables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Color-coded severity indicators (CRITICAL → INFO)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OWASP compliance summary table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Remediation recommendations for each finding</a:t>
            </a:r>
          </a:p>
          <a:p>
            <a:pPr>
              <a:spcAft>
                <a:spcPts val="11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Page numbers and branded footer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05 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046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Architecture Overview &amp;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09728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645920"/>
            <a:ext cx="2286000" cy="50292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Scan Form</a:t>
            </a:r>
            <a:br/>
            <a:r>
              <a:t>(Module Select)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45920"/>
            <a:ext cx="2286000" cy="50292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Live Progress</a:t>
            </a:r>
            <a:br/>
            <a:r>
              <a:t>(SSE Stream)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286000" cy="50292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Results Dashboard</a:t>
            </a:r>
            <a:br/>
            <a:r>
              <a:t>(Score, Grade)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645920"/>
            <a:ext cx="2286000" cy="502920"/>
          </a:xfrm>
          <a:prstGeom prst="roundRect">
            <a:avLst/>
          </a:prstGeom>
          <a:solidFill>
            <a:srgbClr val="0F1525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PDF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5FF"/>
                </a:solidFill>
                <a:latin typeface="Calibri"/>
              </a:defRPr>
            </a:pPr>
            <a:r>
              <a:t>▼  REST API + SSE  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5029200" cy="347472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FA6"/>
                </a:solidFill>
                <a:latin typeface="Calibri"/>
              </a:defRPr>
            </a:pPr>
            <a:r>
              <a:t>SCANNER MODULES (Flask Backend)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20040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Port Scanner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20040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2186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Header Scanner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3749039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SSL/TLS Scanner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749039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3767327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DNS Recon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29768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Tech Fingerprint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29768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Web Crawler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84632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XSS Scanner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84632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48646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SQLi Scanner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539496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JS Analyzer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394960"/>
            <a:ext cx="2103120" cy="41148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4132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Favicon Analyzer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651760"/>
            <a:ext cx="5212080" cy="3474720"/>
          </a:xfrm>
          <a:prstGeom prst="roundRect">
            <a:avLst/>
          </a:prstGeom>
          <a:solidFill>
            <a:srgbClr val="121A2D"/>
          </a:solidFill>
          <a:ln w="190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743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1C"/>
                </a:solidFill>
                <a:latin typeface="Calibri"/>
              </a:defRPr>
            </a:pPr>
            <a:r>
              <a:t>POST-PROCESSING &amp;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3200400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OWASP Mapper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218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CWE + CVSS Enrichment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3767328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37856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Score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785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Weighted A–F Grading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4334256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3525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PDF Generator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4352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ReportLab Reports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901183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9194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Notifier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91947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Slack + Email Alerts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92240" y="5468112"/>
            <a:ext cx="4663440" cy="457200"/>
          </a:xfrm>
          <a:prstGeom prst="roundRect">
            <a:avLst/>
          </a:prstGeom>
          <a:solidFill>
            <a:srgbClr val="0F1525"/>
          </a:solidFill>
          <a:ln w="6350">
            <a:solidFill>
              <a:srgbClr val="FF9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1C"/>
                </a:solidFill>
                <a:latin typeface="Calibri"/>
              </a:defRPr>
            </a:pPr>
            <a:r>
              <a:t>SQLite DB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ScanTask + ScanEvent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06  INDUSTRY RELEVANCE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🔄  DevSecOps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Integrates into CI/CD pipelines via REST API for automated security checks on every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25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📜  Compliance &amp;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OWASP mapping with CWE/CVSS supports PCI-DSS (Req 6.5, 6.6), ISO 27001, and NIST SP 800-53.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🎯 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Serves as recon and automated assessment tool in initial phases of pentesting engagements.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154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🏆  Bug Bounty Programs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118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Rapid surface-level assessment of target applications before deep manual testing.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🏢  SME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Enterprise-grade scanning at zero cost for startups and small businesses.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46320"/>
            <a:ext cx="5303520" cy="155448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983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5FF"/>
                </a:solidFill>
                <a:latin typeface="Calibri"/>
              </a:defRPr>
            </a:pPr>
            <a:r>
              <a:t>🎓  Education &amp;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440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8F0"/>
                </a:solidFill>
                <a:latin typeface="Calibri"/>
              </a:defRPr>
            </a:pPr>
            <a:r>
              <a:t>Open-source modular design — excellent for learning how vulnerability scanners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07 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22860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8F0"/>
                </a:solidFill>
                <a:latin typeface="Calibri"/>
              </a:defRPr>
            </a:pPr>
            <a:r>
              <a:t>VulnScan Pro demonstrates that a comprehensive, modular, and extensible web vulnerability assessment system can be built using open-source technologies. The system successfully integrates 10+ independent scanner modules covering network-layer, application-layer, and client-side vulnerabilities into a unified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Automated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XSS, SQLi, weak SSL, exposed ports, API key leaks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Standards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OWASP Top 10 mapping with CWE &amp; CVSS enrichment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Risk Quantification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Weighted scoring engine → A–F security grade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9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Professional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39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Multi-page PDF with findings, remediation &amp; OWASP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840480"/>
            <a:ext cx="2011680" cy="182880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B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39776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E8F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E5FF"/>
                </a:solidFill>
                <a:latin typeface="Calibri"/>
              </a:defRPr>
            </a:pPr>
            <a:r>
              <a:t>Real-Time Monitoring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846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Live scan progress via Server-Sent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7432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BFA6"/>
                </a:solidFill>
                <a:latin typeface="Calibri"/>
              </a:defRPr>
            </a:pPr>
            <a:r>
              <a:t>Future Enhancements:  Authenticated scanning  •  DAST/IAST integration  •  AI-powered false positive reduction  •  Plugin marketplace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54864" cy="411480"/>
          </a:xfrm>
          <a:prstGeom prst="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5FF"/>
                </a:solidFill>
                <a:latin typeface="Calibri"/>
              </a:defRPr>
            </a:pPr>
            <a:r>
              <a:t>08 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5303520"/>
          </a:xfrm>
          <a:prstGeom prst="roundRect">
            <a:avLst/>
          </a:prstGeom>
          <a:solidFill>
            <a:srgbClr val="121A2D"/>
          </a:solidFill>
          <a:ln w="12700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[1]  OWASP Foundation, "OWASP Top Ten 2021" — https://owasp.org/Top10/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[2]  MITRE Corporation, "Common Weakness Enumeration (CWE)" — https://cwe.mitre.org/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[3]  FIRST.org, "Common Vulnerability Scoring System (CVSS) v3.1" — https://www.first.org/cvss/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[4]  Verizon, "2024 Data Breach Investigations Report (DBIR)" — https://www.verizon.com/business/resources/reports/dbir/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[5]  IBM Security, "Cost of a Data Breach Report 2024" — https://www.ibm.com/reports/data-breach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[6]  NIST, "SP 800-53 Rev. 5: Security and Privacy Controls" — https://csrc.nist.gov/publications/detail/sp/800-53/rev-5/final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[7]  PCI Security Standards Council, "PCI DSS v4.0" — https://www.pcisecuritystandards.org/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[8]  Pallets Projects, "Flask Web Framework" — https://flask.palletsprojects.com/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[9]  ReportLab, "ReportLab PDF Library" — https://www.reportlab.com/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[10] Richardson &amp; Ruby, "RESTful Web APIs" — O'Reilly Media, 2013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[11] Stuttard &amp; Pinto, "The Web Application Hacker's Handbook" — Wiley, 2nd Ed., 2011</a:t>
            </a:r>
          </a:p>
          <a:p>
            <a:pPr>
              <a:spcAft>
                <a:spcPts val="1000"/>
              </a:spcAft>
              <a:defRPr sz="1200">
                <a:solidFill>
                  <a:srgbClr val="E0E8F0"/>
                </a:solidFill>
                <a:latin typeface="Calibri"/>
              </a:defRPr>
            </a:pPr>
            <a:r>
              <a:t>[12] Mozilla Developer Network, "HTTP Security Headers" — https://developer.mozilla.org/en-US/docs/Web/HTTP/Headers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