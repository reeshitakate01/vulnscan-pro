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576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1148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0292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9436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88952" cy="45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00584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VulnScan 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34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38BDF8"/>
                </a:solidFill>
                <a:latin typeface="Calibri"/>
              </a:rPr>
              <a:t>Automated Web Vulnerability Scanner &amp; Intelligence Framework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429000"/>
            <a:ext cx="5760720" cy="36576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3566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3A"/>
                </a:solidFill>
                <a:latin typeface="Calibri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05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Scan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566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05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Test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3566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3A"/>
                </a:solidFill>
                <a:latin typeface="Calibri"/>
              </a:rPr>
              <a:t>OWASP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59" y="4005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Top 10 Mapped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029200"/>
            <a:ext cx="12188952" cy="45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PBL Project  •  B.Tech Cybersecurity  •  2025–26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01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8BDF8"/>
                </a:solidFill>
                <a:latin typeface="Calibri"/>
              </a:rPr>
              <a:t>What is VulnScan Pro and why does it matter?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486400" cy="320040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EF4444"/>
                </a:solidFill>
                <a:latin typeface="Calibri"/>
              </a:rPr>
              <a:t>⚠  The Problem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Websites face thousands of automated attacks daily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Manual security testing is slow, costly &amp; expertise-heavy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Most SMEs &amp; developers lack access to enterprise security tools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OWASP Top 10 threats remain unaddressed in most projects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95% of cyber breaches exploit known, preventable vulnerabilities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320040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81328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0E53A"/>
                </a:solidFill>
                <a:latin typeface="Calibri"/>
              </a:rPr>
              <a:t>✅  Our Solution — VulnScan Pro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Automated multi-module vulnerability scanner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Scans for XSS, SQLi, CSRF, Open Redirect, WAF, Headers, SSL, DNS, Ports &amp; more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Real-time scan progress with live terminal logs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Automated PDF report generation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OWASP Top 10 compliance mapping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1D5DB"/>
                </a:solidFill>
                <a:latin typeface="Calibri"/>
              </a:rPr>
              <a:t>  ▸  Security scoring system (0–100 + letter grade)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754880"/>
            <a:ext cx="2194560" cy="82296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8280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BDF8"/>
                </a:solidFill>
                <a:latin typeface="Calibri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Language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4912" y="4754880"/>
            <a:ext cx="2194560" cy="82296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48280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BDF8"/>
                </a:solidFill>
                <a:latin typeface="Calibri"/>
              </a:rPr>
              <a:t>Flask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4754880"/>
            <a:ext cx="2194560" cy="82296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48280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BDF8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Modules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4754880"/>
            <a:ext cx="2194560" cy="82296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6" y="48280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BDF8"/>
                </a:solidFill>
                <a:latin typeface="Calibri"/>
              </a:rPr>
              <a:t>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02368" y="4754880"/>
            <a:ext cx="2194560" cy="82296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2368" y="48280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BDF8"/>
                </a:solidFill>
                <a:latin typeface="Calibri"/>
              </a:rPr>
              <a:t>ReportLab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PDF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8BDF8"/>
                </a:solidFill>
                <a:latin typeface="Calibri"/>
              </a:rPr>
              <a:t>Prior work and tools that inspired VulnScan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11430000" cy="3200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3A"/>
                </a:solidFill>
                <a:latin typeface="Calibri"/>
              </a:rPr>
              <a:t>Tool /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3A"/>
                </a:solidFill>
                <a:latin typeface="Calibri"/>
              </a:rPr>
              <a:t>Limitation /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3A"/>
                </a:solidFill>
                <a:latin typeface="Calibri"/>
              </a:rPr>
              <a:t>How VulnScan Pro Addresses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11430000" cy="658368"/>
          </a:xfrm>
          <a:prstGeom prst="rect">
            <a:avLst/>
          </a:prstGeom>
          <a:solidFill>
            <a:srgbClr val="0F0F23"/>
          </a:solidFill>
          <a:ln w="635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Nessus (Tenable)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73736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Commercial network/web scanner. Expensive ($3,000+/yr). Closed-source.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73736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3A"/>
                </a:solidFill>
                <a:latin typeface="Calibri"/>
              </a:rPr>
              <a:t>Inspired comprehensive module approach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95728"/>
            <a:ext cx="11430000" cy="658368"/>
          </a:xfrm>
          <a:prstGeom prst="rect">
            <a:avLst/>
          </a:prstGeom>
          <a:solidFill>
            <a:srgbClr val="070710"/>
          </a:solidFill>
          <a:ln w="635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41448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OWASP ZAP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44144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Open-source proxy scanner. Complex setup, GUI-heavy, not API-native.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44144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3A"/>
                </a:solidFill>
                <a:latin typeface="Calibri"/>
              </a:rPr>
              <a:t>Inspired OWASP Top 10 compliance mapping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99816"/>
            <a:ext cx="11430000" cy="658368"/>
          </a:xfrm>
          <a:prstGeom prst="rect">
            <a:avLst/>
          </a:prstGeom>
          <a:solidFill>
            <a:srgbClr val="0F0F23"/>
          </a:solidFill>
          <a:ln w="635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45536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Burp Suite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14553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Industry standard pentesting suite. Requires manual operation &amp; expertise.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14553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3A"/>
                </a:solidFill>
                <a:latin typeface="Calibri"/>
              </a:rPr>
              <a:t>Inspired payload libraries for XSS/SQLi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03904"/>
            <a:ext cx="11430000" cy="658368"/>
          </a:xfrm>
          <a:prstGeom prst="rect">
            <a:avLst/>
          </a:prstGeom>
          <a:solidFill>
            <a:srgbClr val="070710"/>
          </a:solidFill>
          <a:ln w="635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49624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Nikto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849624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CLI-based web server scanner. No dashboard, no real-time stream, no PDF.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849624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3A"/>
                </a:solidFill>
                <a:latin typeface="Calibri"/>
              </a:rPr>
              <a:t>Inspired tech fingerprinting module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507992"/>
            <a:ext cx="11430000" cy="658368"/>
          </a:xfrm>
          <a:prstGeom prst="rect">
            <a:avLst/>
          </a:prstGeom>
          <a:solidFill>
            <a:srgbClr val="0F0F23"/>
          </a:solidFill>
          <a:ln w="635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5371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Skipfish (Google)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553712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Fast automated scanner, discontinued. No active development.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553712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3A"/>
                </a:solidFill>
                <a:latin typeface="Calibri"/>
              </a:rPr>
              <a:t>Inspired crawler depth &amp; form discovery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12080"/>
            <a:ext cx="11430000" cy="658368"/>
          </a:xfrm>
          <a:prstGeom prst="rect">
            <a:avLst/>
          </a:prstGeom>
          <a:solidFill>
            <a:srgbClr val="070710"/>
          </a:solidFill>
          <a:ln w="635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Acunetix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25780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Enterprise scanner with CI/CD integration. High cost, proprietary.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25780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3A"/>
                </a:solidFill>
                <a:latin typeface="Calibri"/>
              </a:rPr>
              <a:t>Inspired unified scoring &amp; grading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03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SUBJECT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Subject Integration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749039" cy="2331720"/>
          </a:xfrm>
          <a:prstGeom prst="rect">
            <a:avLst/>
          </a:prstGeom>
          <a:solidFill>
            <a:srgbClr val="0F0F2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749039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53896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ourier New"/>
              </a:rPr>
              <a:t>CS23601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73352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Blockchain &amp;
Cryptography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SSL/TLS Scanner — audits certificate validity,
cipher suites, TLS version, HSTS enforcement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325880"/>
            <a:ext cx="3749039" cy="2331720"/>
          </a:xfrm>
          <a:prstGeom prst="rect">
            <a:avLst/>
          </a:prstGeom>
          <a:solidFill>
            <a:srgbClr val="0F0F23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325880"/>
            <a:ext cx="3749039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453896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  <a:latin typeface="Courier New"/>
              </a:rPr>
              <a:t>CS23602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1673352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SIEM &amp; SOAR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2240280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Notifier Pipeline — auto-sends alerts via
Slack Webhook and Email on scan completion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325880"/>
            <a:ext cx="3749039" cy="2331720"/>
          </a:xfrm>
          <a:prstGeom prst="rect">
            <a:avLst/>
          </a:prstGeom>
          <a:solidFill>
            <a:srgbClr val="0F0F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325880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453896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ourier New"/>
              </a:rPr>
              <a:t>CS23603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1673352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Cyber Threat
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9" y="2240280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Crawler + Port Scanner + WAF Detector —
maps attack surface, scores threat exposure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86200"/>
            <a:ext cx="3749039" cy="2331720"/>
          </a:xfrm>
          <a:prstGeom prst="rect">
            <a:avLst/>
          </a:prstGeom>
          <a:solidFill>
            <a:srgbClr val="0F0F23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886200"/>
            <a:ext cx="3749039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14216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ourier New"/>
              </a:rPr>
              <a:t>CS23604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33672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Authentication &amp;
Identity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00600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JS Analyzer + Header Scanner — detects
hardcoded API keys &amp; insecure session cookies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886200"/>
            <a:ext cx="3749039" cy="2331720"/>
          </a:xfrm>
          <a:prstGeom prst="rect">
            <a:avLst/>
          </a:prstGeom>
          <a:solidFill>
            <a:srgbClr val="0F0F23"/>
          </a:solidFill>
          <a:ln w="12700">
            <a:solidFill>
              <a:srgbClr val="00E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886200"/>
            <a:ext cx="3749039" cy="64008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4014216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3A"/>
                </a:solidFill>
                <a:latin typeface="Courier New"/>
              </a:rPr>
              <a:t>CS23605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39" y="4233672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Security Compliance
&amp; Audit Mgmt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39" y="4800600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OWASP Mapper + PDF Report — auto-generates
OWASP Top 10 compliance audit documents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886200"/>
            <a:ext cx="3749039" cy="2331720"/>
          </a:xfrm>
          <a:prstGeom prst="rect">
            <a:avLst/>
          </a:prstGeom>
          <a:solidFill>
            <a:srgbClr val="0F0F23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886200"/>
            <a:ext cx="3749039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4014216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ourier New"/>
              </a:rPr>
              <a:t>CS23607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9" y="4233672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Internet of
Things (IoT)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9" y="4800600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Port Scanner + Tech Fingerprinting — maps
IoT device admin ports and detects firmware CVEs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04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DESIGN &amp;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Design and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8BDF8"/>
                </a:solidFill>
                <a:latin typeface="Calibri"/>
              </a:rPr>
              <a:t>Agile sprint-based development with TDD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749039" cy="228600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E53A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3474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Requirements
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Identified OWASP Top 10
vulnerability classes.
Defined module scope.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325880"/>
            <a:ext cx="3749039" cy="228600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1417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1874520"/>
            <a:ext cx="3474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24048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Designed REST API,
database schema, and
modular scanner pipeline.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325880"/>
            <a:ext cx="3749039" cy="228600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1417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1874520"/>
            <a:ext cx="3474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Module
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24048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Built 12 scanners as
independent Python modules
with standard interfaces.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40480"/>
            <a:ext cx="3749039" cy="228600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3474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Backend
Orchestration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194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Flask backend with
bg thread, SSE streaming
&amp; SQLite persistence.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3840480"/>
            <a:ext cx="3749039" cy="228600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39" y="3931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ourier New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4389120"/>
            <a:ext cx="3474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Frontend
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49194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Glassmorphism dark-theme
dashboard with Chart.js
&amp; real-time log terminal.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3840480"/>
            <a:ext cx="3749039" cy="228600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9" y="3931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444"/>
                </a:solidFill>
                <a:latin typeface="Courier New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9" y="4389120"/>
            <a:ext cx="3474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Testing &amp;
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9" y="49194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47 test cases on
deliberately vulnerable
Flask server → 100%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05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8BDF8"/>
                </a:solidFill>
                <a:latin typeface="Calibri"/>
              </a:rPr>
              <a:t>Three-tier client-server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10515600" cy="1051560"/>
          </a:xfrm>
          <a:prstGeom prst="rect">
            <a:avLst/>
          </a:prstGeom>
          <a:solidFill>
            <a:srgbClr val="0F0F2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37160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356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ourier New"/>
              </a:rP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739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Browser · index.html · results.html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Glassmorphism UI  |  Chart.js Doughnut  |  SSE Real-time Log  |  Severity Filter  |  PDF Export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10515600" cy="1051560"/>
          </a:xfrm>
          <a:prstGeom prst="rect">
            <a:avLst/>
          </a:prstGeom>
          <a:solidFill>
            <a:srgbClr val="0F0F23"/>
          </a:solidFill>
          <a:ln w="12700">
            <a:solidFill>
              <a:srgbClr val="00E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651760"/>
            <a:ext cx="54864" cy="10515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157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3A"/>
                </a:solidFill>
                <a:latin typeface="Courier New"/>
              </a:rPr>
              <a:t>APPLICATION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540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Flask Backend · app.py · 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2608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POST /api/scan  |  GET /stream (SSE)  |  GET /results  |  Threading  |  OWASP Mapper  |  Score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931920"/>
            <a:ext cx="10515600" cy="1051560"/>
          </a:xfrm>
          <a:prstGeom prst="rect">
            <a:avLst/>
          </a:prstGeom>
          <a:solidFill>
            <a:srgbClr val="0F0F23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931920"/>
            <a:ext cx="54864" cy="10515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95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ourier New"/>
              </a:rPr>
              <a:t>SCANNER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342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12 Independent Python Scan 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0624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Crawler · XSS · SQLi · CSRF · Open Redirect · WAF · Headers · SSL · DNS · Ports · Tech · JS Analyzer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212080"/>
            <a:ext cx="10515600" cy="1051560"/>
          </a:xfrm>
          <a:prstGeom prst="rect">
            <a:avLst/>
          </a:prstGeom>
          <a:solidFill>
            <a:srgbClr val="0F0F23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212080"/>
            <a:ext cx="54864" cy="1051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76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ourier New"/>
              </a:rPr>
              <a:t>DATA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144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SQLite DB · PDF Reports ·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48640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ScanTask Model  |  ScanEvent Log  |  ReportLab PDF  |  Slack Webhook  |  SMTP 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578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858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1389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8BDF8"/>
                </a:solidFill>
                <a:latin typeface="Calibri"/>
              </a:rPr>
              <a:t>12 independent scanner modules + unified orchestration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356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Crawler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87452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BFS link discovery
Form &amp; JS extraction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132588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6" y="14356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XSS Scanner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187452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60+ payloads across
8 attack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32588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14356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SQLi Scanner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7452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Error / Boolean /
Time-based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08008" y="132588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7736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14356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SSL/TLS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187452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Cert validity,
weak cipher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1752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1272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DNS Recon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35661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A, MX, NS, TXT,
SPF, DMARC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82696" y="301752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92424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5616" y="31272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Port Scanner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2424" y="35661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30 critical ports
service risk mapping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301752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31272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Header Scanner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5661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8 security headers
cookie flag checks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08008" y="301752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6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31272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WAF Detector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35661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Signature-based
firewall detection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70916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818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Open Redirect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525780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URL param &amp; form
redirect testing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82696" y="470916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92424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85616" y="4818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CSRF Scanner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92424" y="525780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CSRF token absence
detection on POSTs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45352" y="470916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8272" y="4818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Tech Fingerprint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525780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CMS, server, libs
CVE lookup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08008" y="4709160"/>
            <a:ext cx="2788920" cy="155448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17736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10928" y="4818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3A"/>
                </a:solidFill>
                <a:latin typeface="Calibri"/>
              </a:rPr>
              <a:t>JS Analyzer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17736" y="525780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Secret &amp; credential
regex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07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&amp;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8BDF8"/>
                </a:solidFill>
                <a:latin typeface="Calibri"/>
              </a:rPr>
              <a:t>100% backtest accuracy across 47 automated test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7955279" cy="347472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3A"/>
                </a:solidFill>
                <a:latin typeface="Calibri"/>
              </a:rPr>
              <a:t>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3A"/>
                </a:solidFill>
                <a:latin typeface="Calibri"/>
              </a:rPr>
              <a:t>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3A"/>
                </a:solidFill>
                <a:latin typeface="Calibri"/>
              </a:rPr>
              <a:t>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3A"/>
                </a:solidFill>
                <a:latin typeface="Calibri"/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7955279" cy="347472"/>
          </a:xfrm>
          <a:prstGeom prst="rect">
            <a:avLst/>
          </a:prstGeom>
          <a:solidFill>
            <a:srgbClr val="0F0F23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282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Header Scanner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7282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7282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7282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57400"/>
            <a:ext cx="7955279" cy="347472"/>
          </a:xfrm>
          <a:prstGeom prst="rect">
            <a:avLst/>
          </a:prstGeom>
          <a:solidFill>
            <a:srgbClr val="070710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939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XSS Scanner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0939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0939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0939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423160"/>
            <a:ext cx="7955279" cy="347472"/>
          </a:xfrm>
          <a:prstGeom prst="rect">
            <a:avLst/>
          </a:prstGeom>
          <a:solidFill>
            <a:srgbClr val="0F0F23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4597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SQL Injection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45973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4597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597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88920"/>
            <a:ext cx="7955279" cy="347472"/>
          </a:xfrm>
          <a:prstGeom prst="rect">
            <a:avLst/>
          </a:prstGeom>
          <a:solidFill>
            <a:srgbClr val="070710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8254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Crawler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8254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8254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8254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154680"/>
            <a:ext cx="7955279" cy="347472"/>
          </a:xfrm>
          <a:prstGeom prst="rect">
            <a:avLst/>
          </a:prstGeom>
          <a:solidFill>
            <a:srgbClr val="0F0F23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1912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Tech Fingerprinting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1912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1912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1912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520440"/>
            <a:ext cx="7955279" cy="347472"/>
          </a:xfrm>
          <a:prstGeom prst="rect">
            <a:avLst/>
          </a:prstGeom>
          <a:solidFill>
            <a:srgbClr val="070710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557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JS Analyzer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35570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35570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5570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886200"/>
            <a:ext cx="7955279" cy="347472"/>
          </a:xfrm>
          <a:prstGeom prst="rect">
            <a:avLst/>
          </a:prstGeom>
          <a:solidFill>
            <a:srgbClr val="0F0F23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227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Port Scanner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39227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39227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9227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251960"/>
            <a:ext cx="7955279" cy="347472"/>
          </a:xfrm>
          <a:prstGeom prst="rect">
            <a:avLst/>
          </a:prstGeom>
          <a:solidFill>
            <a:srgbClr val="070710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2885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DNS Recon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428853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2885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288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617720"/>
            <a:ext cx="7955279" cy="347472"/>
          </a:xfrm>
          <a:prstGeom prst="rect">
            <a:avLst/>
          </a:prstGeom>
          <a:solidFill>
            <a:srgbClr val="0F0F23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6542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SSL Scanner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46542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46542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6542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983480"/>
            <a:ext cx="7955279" cy="347472"/>
          </a:xfrm>
          <a:prstGeom prst="rect">
            <a:avLst/>
          </a:prstGeom>
          <a:solidFill>
            <a:srgbClr val="070710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0200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WAF Detector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0" y="50200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0720" y="50200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50200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349240"/>
            <a:ext cx="7955279" cy="347472"/>
          </a:xfrm>
          <a:prstGeom prst="rect">
            <a:avLst/>
          </a:prstGeom>
          <a:solidFill>
            <a:srgbClr val="0F0F23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3858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Open Redirect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0" y="5385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0" y="5385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53858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715000"/>
            <a:ext cx="7955279" cy="347472"/>
          </a:xfrm>
          <a:prstGeom prst="rect">
            <a:avLst/>
          </a:prstGeom>
          <a:solidFill>
            <a:srgbClr val="070710"/>
          </a:solidFill>
          <a:ln w="5080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7515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CSRF Scanner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54880" y="57515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60720" y="57515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57515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6089904"/>
            <a:ext cx="7955279" cy="347472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6126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710"/>
                </a:solidFill>
                <a:latin typeface="Calibri"/>
              </a:rPr>
              <a:t>TOTAL  —  47 / 47  —  100% Overall Accuracy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86800" y="1325880"/>
            <a:ext cx="3108960" cy="1143000"/>
          </a:xfrm>
          <a:prstGeom prst="rect">
            <a:avLst/>
          </a:prstGeom>
          <a:solidFill>
            <a:srgbClr val="0F0F23"/>
          </a:solidFill>
          <a:ln w="9525">
            <a:solidFill>
              <a:srgbClr val="00E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86800" y="1371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3A"/>
                </a:solidFill>
                <a:latin typeface="Calibri"/>
              </a:rPr>
              <a:t>47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20391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Total Test Cases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86800" y="2651760"/>
            <a:ext cx="3108960" cy="1143000"/>
          </a:xfrm>
          <a:prstGeom prst="rect">
            <a:avLst/>
          </a:prstGeom>
          <a:solidFill>
            <a:srgbClr val="0F0F23"/>
          </a:solidFill>
          <a:ln w="9525">
            <a:solidFill>
              <a:srgbClr val="00E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86800" y="2697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3A"/>
                </a:solidFill>
                <a:latin typeface="Calibri"/>
              </a:rP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0" y="33649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Modules Tested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0" y="3977639"/>
            <a:ext cx="3108960" cy="1143000"/>
          </a:xfrm>
          <a:prstGeom prst="rect">
            <a:avLst/>
          </a:prstGeom>
          <a:solidFill>
            <a:srgbClr val="0F0F23"/>
          </a:solidFill>
          <a:ln w="9525">
            <a:solidFill>
              <a:srgbClr val="00E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0" y="402335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3A"/>
                </a:solidFill>
                <a:latin typeface="Calibri"/>
              </a:rPr>
              <a:t>100%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0" y="469087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Overall Accuracy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86800" y="5303520"/>
            <a:ext cx="3108960" cy="1143000"/>
          </a:xfrm>
          <a:prstGeom prst="rect">
            <a:avLst/>
          </a:prstGeom>
          <a:solidFill>
            <a:srgbClr val="0F0F23"/>
          </a:solidFill>
          <a:ln w="9525">
            <a:solidFill>
              <a:srgbClr val="00E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86800" y="5349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3A"/>
                </a:solidFill>
                <a:latin typeface="Calibri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0" y="6016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False Negatives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08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INDUSTRY RELEVANCE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Industry Relevance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8BDF8"/>
                </a:solidFill>
                <a:latin typeface="Calibri"/>
              </a:rPr>
              <a:t>Real-world alignment with cybersecurity industry needs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486400" cy="493776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44168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0E53A"/>
                </a:solidFill>
                <a:latin typeface="Calibri"/>
              </a:rPr>
              <a:t>🏭  Use Cases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Penetration testing firms can use VulnScan Pro for automated initial reconnaissance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DevSecOps teams can integrate the API into CI/CD pipelines for shift-left security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Bug bounty hunters can rapidly map attack surfaces before manual testing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SMEs with no security budget get enterprise-grade scanning for free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Security auditors can generate instant OWASP-aligned PDF compliance reports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SOC teams can automate periodic scanning and route alerts to Slack/SIEM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486400" cy="493776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44168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0E53A"/>
                </a:solidFill>
                <a:latin typeface="Calibri"/>
              </a:rPr>
              <a:t>📊  Industry Statistics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Comparable to: Nessus · OWASP ZAP · Acunetix · Burp Suite Community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Global Cybersecurity market: $266.2 Billion by 2027 (CAGR 10.9%)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Average cost of a data breach in 2024: $4.88 Million (IBM Report)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86% of breaches involve web application vulnerabilities (Verizon DBIR)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95% of vulnerabilities exploited are already in the NVD/CVE database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Automated scanners reduce vulnerability detection time by 70% vs manual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09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Challenges Faced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8BDF8"/>
                </a:solidFill>
                <a:latin typeface="Calibri"/>
              </a:rPr>
              <a:t>Technical and design problems encountered and solved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669280" cy="1664208"/>
          </a:xfrm>
          <a:prstGeom prst="rect">
            <a:avLst/>
          </a:prstGeom>
          <a:solidFill>
            <a:srgbClr val="0F0F23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66928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F4444"/>
                </a:solidFill>
                <a:latin typeface="Calibri"/>
              </a:rPr>
              <a:t>False Positives in XSS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2821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⚠  Attribute injection payloads without quotes (e.g. x onmouseover=alert(1)) reflected identically in safe 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alibri"/>
              </a:rPr>
              <a:t>✅  Updated attr_injection payloads to include quote characters (", ') so HTML escaping triggers correctly. Now 100% accuracy.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669280" cy="1664208"/>
          </a:xfrm>
          <a:prstGeom prst="rect">
            <a:avLst/>
          </a:prstGeom>
          <a:solidFill>
            <a:srgbClr val="0F0F23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566928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  <a:latin typeface="Calibri"/>
              </a:rPr>
              <a:t>Real-time Log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2821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⚠  WebSockets require separate server infrastructure. Maintaining live updates across request cycles was complex.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402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alibri"/>
              </a:rPr>
              <a:t>✅  Implemented Server-Sent Events (SSE) — a simpler HTTP-based push protocol. Backend polls DB every 1s and streams events.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5669280" cy="1664208"/>
          </a:xfrm>
          <a:prstGeom prst="rect">
            <a:avLst/>
          </a:prstGeom>
          <a:solidFill>
            <a:srgbClr val="0F0F23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108960"/>
            <a:ext cx="5669280" cy="502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518"/>
                </a:solidFill>
                <a:latin typeface="Calibri"/>
              </a:rPr>
              <a:t>Thread-Safe DB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1129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⚠  SQLAlchemy sessions are not thread-safe. Scanner threads writing simultaneously caused integrity errors.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alibri"/>
              </a:rPr>
              <a:t>✅  Each background operation creates its own app_context() ensuring isolated SQLAlchemy sessions per thread.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108960"/>
            <a:ext cx="5669280" cy="1664208"/>
          </a:xfrm>
          <a:prstGeom prst="rect">
            <a:avLst/>
          </a:prstGeom>
          <a:solidFill>
            <a:srgbClr val="0F0F23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108960"/>
            <a:ext cx="5669280" cy="502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2004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7316"/>
                </a:solidFill>
                <a:latin typeface="Calibri"/>
              </a:rPr>
              <a:t>Scan Accuracy vs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1129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⚠  More aggressive crawling and testing increased detection but timed out on fast-rate-limited targets.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0233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alibri"/>
              </a:rPr>
              <a:t>✅  Added per-request timeouts (5s), depth limiting for crawler (max_depth=2), and skip logic for empty forms.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892040"/>
            <a:ext cx="5669280" cy="1664208"/>
          </a:xfrm>
          <a:prstGeom prst="rect">
            <a:avLst/>
          </a:prstGeom>
          <a:solidFill>
            <a:srgbClr val="0F0F23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892040"/>
            <a:ext cx="566928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83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Dynamic JS-Rendered Pages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9437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⚠  Websites built with React/Angular/Vue render HTML via JavaScript — requests-based crawler cannot see this content.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06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alibri"/>
              </a:rPr>
              <a:t>✅  Acknowledged as a current limitation. Future plan: integrate Playwright for headless browser-based crawling.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892040"/>
            <a:ext cx="5669280" cy="1664208"/>
          </a:xfrm>
          <a:prstGeom prst="rect">
            <a:avLst/>
          </a:prstGeom>
          <a:solidFill>
            <a:srgbClr val="0F0F23"/>
          </a:solidFill>
          <a:ln w="9525">
            <a:solidFill>
              <a:srgbClr val="00E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892040"/>
            <a:ext cx="5669280" cy="50292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983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3A"/>
                </a:solidFill>
                <a:latin typeface="Calibri"/>
              </a:rPr>
              <a:t>PDF Report Formatting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29437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88"/>
                </a:solidFill>
                <a:latin typeface="Calibri"/>
              </a:rPr>
              <a:t>⚠  ReportLab's low-level canvas API required pixel-precise manual layout for tables, badges and vulnerability cards.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806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alibri"/>
              </a:rPr>
              <a:t>✅  Built reusable helper functions for drawing tables, headers and section dividers — significantly reduced code duplication.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ETHICAL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Ethical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8BDF8"/>
                </a:solidFill>
                <a:latin typeface="Calibri"/>
              </a:rPr>
              <a:t>Responsible disclosure and legal usage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486400" cy="493776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44168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0E53A"/>
                </a:solidFill>
                <a:latin typeface="Calibri"/>
              </a:rPr>
              <a:t>🛡  Controls Built Into the Tool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Authorization checkbox mandated — user must confirm written consent before any scan can be initiated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Tool tested exclusively on intentionally vulnerable local servers (vuln_target.py) and public legal targets (testphp.vulnweb.com)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No scan data is transmitted to external servers — all results stored locally in SQLite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Payloads are detection-only — we do not exploit, exfiltrate data, or cause damage to target systems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Tool explicitly states: 'For authorized internal and contracted security evaluations only'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Compliant with CERT-In guidelines and the IT Act 2000 (Section 43/66) for authorized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486400" cy="493776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44168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0E53A"/>
                </a:solidFill>
                <a:latin typeface="Calibri"/>
              </a:rPr>
              <a:t>⚖  Ethical Framework &amp; Guidelines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Dual-use technology challenge: legitimate security tool vs potential misuse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Responsible Disclosure: any vulnerabilities found on authorized targets should be reported to the owner immediately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Do NOT scan government, banking, or public infrastructure without explicit written permission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Rate-limiting logic prevents accidental DoS conditions on target servers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All team members trained in ethical hacking guidelines before project development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D1D5DB"/>
                </a:solidFill>
                <a:latin typeface="Calibri"/>
              </a:rPr>
              <a:t>  ▸  Full audit trail maintained — every scan is logged with timestamp, scan ID, and target URL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8BDF8"/>
                </a:solidFill>
                <a:latin typeface="Calibri"/>
              </a:rPr>
              <a:t>Next-generation enhancements planned for VulnScan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749039" cy="2286000"/>
          </a:xfrm>
          <a:prstGeom prst="rect">
            <a:avLst/>
          </a:prstGeom>
          <a:solidFill>
            <a:srgbClr val="0F0F23"/>
          </a:solidFill>
          <a:ln w="10795">
            <a:solidFill>
              <a:srgbClr val="00E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3017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E53A"/>
                </a:solidFill>
                <a:latin typeface="Calibri"/>
              </a:rPr>
              <a:t>AI-Powered
Vuln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ML model trained on CVE database to
predict likely vulnerabilities based on
detected tech stack and version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325880"/>
            <a:ext cx="3749039" cy="2286000"/>
          </a:xfrm>
          <a:prstGeom prst="rect">
            <a:avLst/>
          </a:prstGeom>
          <a:solidFill>
            <a:srgbClr val="0F0F23"/>
          </a:solidFill>
          <a:ln w="1079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39" y="1417320"/>
            <a:ext cx="3017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8BDF8"/>
                </a:solidFill>
                <a:latin typeface="Calibri"/>
              </a:rPr>
              <a:t>Authenticated
Scanning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1984248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Login session support using Selenium/
Playwright to scan pages behind auth
walls — vastly expanding coverage.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325880"/>
            <a:ext cx="3749039" cy="2286000"/>
          </a:xfrm>
          <a:prstGeom prst="rect">
            <a:avLst/>
          </a:prstGeom>
          <a:solidFill>
            <a:srgbClr val="0F0F23"/>
          </a:solidFill>
          <a:ln w="1079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79" y="1417320"/>
            <a:ext cx="3017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C518"/>
                </a:solidFill>
                <a:latin typeface="Calibri"/>
              </a:rPr>
              <a:t>CI/CD Pipeline
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1984248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GitHub Actions / Jenkins plugin so
developers scan their own apps on
every code push (shift-left security).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94760"/>
            <a:ext cx="3749039" cy="2286000"/>
          </a:xfrm>
          <a:prstGeom prst="rect">
            <a:avLst/>
          </a:prstGeom>
          <a:solidFill>
            <a:srgbClr val="0F0F23"/>
          </a:solidFill>
          <a:ln w="1079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86200"/>
            <a:ext cx="3017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97316"/>
                </a:solidFill>
                <a:latin typeface="Calibri"/>
              </a:rPr>
              <a:t>Real-time CVE
Feed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53128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Connect to NVD API and MITRE CVE
database for live CVE lookup instead
of a static local knowledge base.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3794760"/>
            <a:ext cx="3749039" cy="2286000"/>
          </a:xfrm>
          <a:prstGeom prst="rect">
            <a:avLst/>
          </a:prstGeom>
          <a:solidFill>
            <a:srgbClr val="0F0F23"/>
          </a:solidFill>
          <a:ln w="1079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39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39" y="3886200"/>
            <a:ext cx="3017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78BFA"/>
                </a:solidFill>
                <a:latin typeface="Calibri"/>
              </a:rPr>
              <a:t>Scheduled Scans
&amp; Alerting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4453128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Cron-based recurring scans with delta
reporting — only alerting on NEW
vulnerabilities since last scan.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3794760"/>
            <a:ext cx="3749039" cy="2286000"/>
          </a:xfrm>
          <a:prstGeom prst="rect">
            <a:avLst/>
          </a:prstGeom>
          <a:solidFill>
            <a:srgbClr val="0F0F23"/>
          </a:solidFill>
          <a:ln w="1079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9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79" y="3886200"/>
            <a:ext cx="3017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Mobile App
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9" y="4453128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React Native companion app for real-
time scan monitoring and push
notifications for critical findings.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1D5DB"/>
                </a:solidFill>
                <a:latin typeface="Calibri"/>
              </a:rPr>
              <a:t>VulnScan Pro successfully delivers a comprehensive, automated, open-source web vulnerability scanning framework built entirely in Python. It integrates 12 scanning modules, real-time SSE-based progress streaming, an intelligent scoring engine, OWASP Top 10 compliance mapping, and automated PDF report generation — all within a modern glassmorphism web interface.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7132320" cy="3474720"/>
          </a:xfrm>
          <a:prstGeom prst="rect">
            <a:avLst/>
          </a:prstGeom>
          <a:solidFill>
            <a:srgbClr val="0F0F23"/>
          </a:solidFill>
          <a:ln w="9525">
            <a:solidFill>
              <a:srgbClr val="1E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0E53A"/>
                </a:solidFill>
                <a:latin typeface="Calibri"/>
              </a:rPr>
              <a:t>Key Achievements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D1D5DB"/>
                </a:solidFill>
                <a:latin typeface="Calibri"/>
              </a:rPr>
              <a:t>    ✅  12 scanner modules built from scratch in Python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D1D5DB"/>
                </a:solidFill>
                <a:latin typeface="Calibri"/>
              </a:rPr>
              <a:t>    ✅  100% accuracy on 47 automated backtest cases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D1D5DB"/>
                </a:solidFill>
                <a:latin typeface="Calibri"/>
              </a:rPr>
              <a:t>    ✅  Full OWASP Top 10 vulnerability coverage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D1D5DB"/>
                </a:solidFill>
                <a:latin typeface="Calibri"/>
              </a:rPr>
              <a:t>    ✅  Real-time scan monitoring via Server-Sent Events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D1D5DB"/>
                </a:solidFill>
                <a:latin typeface="Calibri"/>
              </a:rPr>
              <a:t>    ✅  Automated, professional PDF security reports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D1D5DB"/>
                </a:solidFill>
                <a:latin typeface="Calibri"/>
              </a:rPr>
              <a:t>    ✅  Subject integration across all 6 course modules (CS23601–CS23607)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331720"/>
            <a:ext cx="3886200" cy="3474720"/>
          </a:xfrm>
          <a:prstGeom prst="rect">
            <a:avLst/>
          </a:prstGeom>
          <a:solidFill>
            <a:srgbClr val="0F0F23"/>
          </a:solidFill>
          <a:ln w="12700">
            <a:solidFill>
              <a:srgbClr val="00E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2331720"/>
            <a:ext cx="3886200" cy="64008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487168"/>
            <a:ext cx="3611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E53A"/>
                </a:solidFill>
                <a:latin typeface="Calibri"/>
              </a:rPr>
              <a:t>"Security is not a product
but a process."
— Bruce Schneier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3931920"/>
            <a:ext cx="2468880" cy="274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4069080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Calibri"/>
              </a:rPr>
              <a:t>VulnScan Pro automates
that process — giving developers
and security teams a free,
powerful tool to continuously
monitor and improve their
web security posture.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568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VulnScan Pro  |  PBL Project  |  B.Tech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ourier New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3A"/>
                </a:solidFill>
                <a:latin typeface="Courier New"/>
              </a:rPr>
              <a:t>//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"/>
            <a:ext cx="45720" cy="365760"/>
          </a:xfrm>
          <a:prstGeom prst="rect">
            <a:avLst/>
          </a:prstGeom>
          <a:solidFill>
            <a:srgbClr val="00E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30000" cy="39319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[1]  OWASP Foundation, "OWASP Top 10 — 2021: The Ten Most Critical Web Application Security Risks," owasp.org, 2021.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51076"/>
            <a:ext cx="11430000" cy="393192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9679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[2]  IBM Security, "Cost of a Data Breach Report 2024," IBM Corporation, 2024. [Online] ibm.com/security/data-breach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76272"/>
            <a:ext cx="11430000" cy="39319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219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[3]  Verizon, "2024 Data Breach Investigations Report (DBIR)," Verizon Business, 2024.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1468"/>
            <a:ext cx="11430000" cy="393192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471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[4]  NIST, "National Vulnerability Database (NVD)," nvd.nist.gov. (CVE reference database)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26664"/>
            <a:ext cx="11430000" cy="39319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72384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[5]  Pallets Projects, "Flask Documentation v3.0," flask.palletsprojects.com, 2024.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51860"/>
            <a:ext cx="11430000" cy="393192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975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[6]  Python Software Foundation, "Python 3 Documentation," docs.python.org, 2024.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77056"/>
            <a:ext cx="11430000" cy="39319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2277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[7]  Tenable, "Nessus Vulnerability Scanner," tenable.com/products/nessus — used as competitive reference.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02252"/>
            <a:ext cx="11430000" cy="393192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479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[8]  PortSwigger, "Web Security Academy &amp; Burp Suite," portswigger.net — payload and methodology reference.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27448"/>
            <a:ext cx="11430000" cy="39319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731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[9]  Chart.js Contributors, "Chart.js v4 Documentation," chartjs.org, 2024.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52644"/>
            <a:ext cx="11430000" cy="393192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198364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[10] ReportLab Inc., "ReportLab PDF Library Documentation," reportlab.com, 2024.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77840"/>
            <a:ext cx="11430000" cy="393192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[11] CERT-In, "Guidelines for Ethical Hacking and Penetration Testing," cert-in.org.in, Govt. of India.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003036"/>
            <a:ext cx="11430000" cy="393192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04875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[12] M. Howard &amp; D. LeBlanc, "Writing Secure Code," 2nd ed., Microsoft Press, 2002.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