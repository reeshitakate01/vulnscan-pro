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EC26-B2D1-1807-3EC7-E6CB24F22DC6}"/>
              </a:ext>
            </a:extLst>
          </p:cNvPr>
          <p:cNvSpPr txBox="1">
            <a:spLocks/>
          </p:cNvSpPr>
          <p:nvPr/>
        </p:nvSpPr>
        <p:spPr>
          <a:xfrm>
            <a:off x="1161288" y="340785"/>
            <a:ext cx="10259568" cy="45719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PROJECT PRESENTATION ON</a:t>
            </a:r>
            <a:endParaRPr lang="en-IN" sz="2000" b="1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Automated Web Vulnerability Assessment System</a:t>
            </a:r>
            <a:endParaRPr lang="en-US" sz="2000" b="1" u="sng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EB193F-CF0E-EB0B-A887-8C2973677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22928"/>
              </p:ext>
            </p:extLst>
          </p:nvPr>
        </p:nvGraphicFramePr>
        <p:xfrm>
          <a:off x="3990784" y="2559605"/>
          <a:ext cx="5008881" cy="20313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3518">
                  <a:extLst>
                    <a:ext uri="{9D8B030D-6E8A-4147-A177-3AD203B41FA5}">
                      <a16:colId xmlns:a16="http://schemas.microsoft.com/office/drawing/2014/main" val="1293408815"/>
                    </a:ext>
                  </a:extLst>
                </a:gridCol>
                <a:gridCol w="3635363">
                  <a:extLst>
                    <a:ext uri="{9D8B030D-6E8A-4147-A177-3AD203B41FA5}">
                      <a16:colId xmlns:a16="http://schemas.microsoft.com/office/drawing/2014/main" val="2181770056"/>
                    </a:ext>
                  </a:extLst>
                </a:gridCol>
              </a:tblGrid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521030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70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Adwait Bodhe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5825738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69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Samiksha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Morshe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259496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Samarth Divekar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1954518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Pranav Mohite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0327350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Reeshita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Kate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8329434"/>
                  </a:ext>
                </a:extLst>
              </a:tr>
              <a:tr h="257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89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Akanksha Singar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458207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35E01CB-A964-71EC-AEF8-9F72427D3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59276"/>
            <a:ext cx="110185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BACHELOR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OF TECHNOLOGY IN CSIT (CYBER SECURITY) / (AIML)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SUBMITTED BY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GROUP NO: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F58EA9E-5189-A1CE-15B8-FCB5DACA3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3" y="81244"/>
            <a:ext cx="1241425" cy="12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CE25FEB-78E6-7EA8-D2D1-A03871F27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745" y="5564823"/>
            <a:ext cx="8514080" cy="128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SCHOOL OF COMPUTER SCIENCE AND INFORMATION TECHNOLOGY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SYMBIOSIS SKILLS AND PROFESSIONAL UNIVERSITY, PUNE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ACADEMIC YEAR 2025-26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D02B2-EDBC-4FCC-86F7-9AABB139756B}"/>
              </a:ext>
            </a:extLst>
          </p:cNvPr>
          <p:cNvSpPr txBox="1"/>
          <p:nvPr/>
        </p:nvSpPr>
        <p:spPr>
          <a:xfrm>
            <a:off x="4133024" y="4817414"/>
            <a:ext cx="5110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UNDER THE GUIDANCE OF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Vivek Jog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012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11827"/>
                </a:solidFill>
                <a:latin typeface="Calibri Light"/>
              </a:defRPr>
            </a:pPr>
            <a: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66CC"/>
                </a:solidFill>
                <a:latin typeface="Calibri"/>
              </a:defRPr>
            </a:pPr>
            <a:r>
              <a:t>Automated Web Vulnerability Assessment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291840"/>
            <a:ext cx="27432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999"/>
                </a:solidFill>
                <a:latin typeface="Calibri"/>
              </a:defRPr>
            </a:pPr>
            <a:r>
              <a:t>Python  •  Flask  •  SQLAlchemy  •  BeautifulSoup  •  ReportLab  •  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dirty="0"/>
              <a:t>Department of Computer Science &amp; Engineering</a:t>
            </a:r>
            <a:r>
              <a:rPr lang="en-US" dirty="0"/>
              <a:t>(Cybersecurity)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Web applications are the primary interface for businesses, governments, and individuals on the internet, making them a prime target for cyber attacks. As the threat landscape evolves with increasing sophistication, manual security assessments are no longer sufficient to keep pace with the volume and complexity of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is an automated, modular web vulnerability assessment system designed to perform comprehensive security audits of web applications. Inspired by industry-standard tools like Tenable Nessus, it provides an integrated platform that combines multiple scanning techniques — from port scanning and SSL/TLS inspection to injection testing and JavaScript analysis — into a single, easy-to-use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10+ Scanner</a:t>
            </a:r>
            <a:br>
              <a:rPr dirty="0"/>
            </a:br>
            <a:r>
              <a:rPr dirty="0"/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465630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Security Score</a:t>
            </a:r>
            <a:br>
              <a:rPr dirty="0"/>
            </a:br>
            <a:r>
              <a:rPr dirty="0"/>
              <a:t>(A–F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46634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OWASP Top 10</a:t>
            </a:r>
            <a:br>
              <a:rPr dirty="0"/>
            </a:br>
            <a:r>
              <a:rPr dirty="0"/>
              <a:t>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4608576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PDF Report</a:t>
            </a:r>
            <a:br/>
            <a:r>
              <a:t>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46105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Real-Time</a:t>
            </a:r>
            <a:br>
              <a:rPr dirty="0"/>
            </a:br>
            <a:r>
              <a:rPr dirty="0"/>
              <a:t>SSE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02 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Existing Tools, Frameworks &amp; Research in Web Security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44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rPr dirty="0"/>
              <a:t>Existing Tools &amp;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Nessus (Tenable)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Industry-leading commercial vulnerability scanner. Comprehensive but expensive ($3,500+/yr). Closed-source, limited customization.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Burp Suite (PortSwigger)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Gold standard for web app security testing. Professional edition requires license. Focuses on manual + automated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OWASP ZAP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Open-source web app scanner. Community-driven but limited in automated assessment depth. Lacks integrated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Nikto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Open-source web server scanner. Fast but limited to known vulnerabilities. No OWASP mapping or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Qualys WAS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Cloud-based enterprise scanner. High cost, complex setup. Excellent compliance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3441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rPr dirty="0"/>
              <a:t>Research Gap &amp; Flux's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Most open-source tools lack integrated OWASP Top 10 mapping with CWE &amp; CVSS enrichment.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No affordable tool combines reconnaissance, vulnerability assessment, and risk quantification in a single platform.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Existing scanners provide raw findings without actionable severity-weighted security scoring (A–F grades).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Limited real-time progress feedback — most tools run as batch processes without live streaming.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Commercial tools are prohibitively expensive for students, startups, and small security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389120"/>
            <a:ext cx="466344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Flux Addresses These Gaps By: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Modular open-source design — extensible &amp; free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Integrated OWASP mapping + CWE/CVSS enrichment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Quantified A–F security grading engine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Real-time SSE scan progress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03  SUBJECT INTEGRATION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How Academic Subjects Converge in Flux's Design &amp;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🌐  Computer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2286000" cy="274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TCP/IP socket programming, port scanning, DNS enumeration, SSL/TLS handshake analysis, HTTP protocol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t>💻  Web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1828800"/>
            <a:ext cx="22860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Flask web framework, REST API design, HTML/CSS/JS frontend, Server-Sent Events (SSE) for real-time streaming.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Calibri"/>
              </a:defRPr>
            </a:pPr>
            <a:r>
              <a:t>🗄️  Database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2286000" cy="2743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SQLAlchemy ORM, SQLite for scan persistence, relational schema design (ScanTask, ScanEvent models).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🔐  Information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80560"/>
            <a:ext cx="2286000" cy="274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OWASP Top 10 mapping, CWE/CVSS enrichment, injection attack detection (XSS/SQLi), security header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3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⚙️ 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39" y="4480560"/>
            <a:ext cx="2286000" cy="274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39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Modular architecture, MVC pattern, configuration management, error handling, logging, code documentation.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📐  Data Structures &amp; Algorithms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480560"/>
            <a:ext cx="2286000" cy="274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BFS web crawling, concurrent threading (50 threads), hash-based deduplication, regex pattern matching.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DESIGN AND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1: Information Gathering  →  Phase 2: Vulnerability Assessment  →  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rPr dirty="0"/>
              <a:t>PHASE 1 — Information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Port Scanner — TCP connect scan on top 30+ common ports using 50 concurrent threads. Identifies open services &amp; flags dangerous ports (FTP, Telnet, DB ports).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DNS Recon — Enumerates A, AAAA, MX, NS, TXT, SOA records. Tests for zone transfer vulnerability. Checks SPF &amp; DMARC presence.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Tech Fingerprinting — Analyzes HTTP headers (Server, X-Powered-By), HTML meta tags, script sources, and favicon hashes to identify technologies and known CVEs.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Web Crawler — Recursive BFS crawl (depth=2). Extracts all forms with input fields and external JavaScript file URLs for downstream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24712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99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PHASE 2 — Vulnerability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XSS Scanner — Injects 4 payloads (&lt;script&gt;, &lt;img onerror&gt;, javascript:, &lt;svg/onload&gt;) into form fields. Detects reflected XSS via response body analysis.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SQL Injection Scanner — Tests 5 error-based payloads (OR '1'='1, UNION SELECT, etc.). Detects via SQL error strings and HTTP 500 responses.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Security Headers — Analyzes 8+ HTTP headers: Content-Security-Policy, HSTS, X-Frame-Options, X-Content-Type, Permissions-Policy, etc.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SSL/TLS Scanner — Validates certificates, checks expiry, detects self-signed certs, probes TLS versions (1.0–1.3), identifies weak ciphers (RC4, DES).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JavaScript Analyzer — Static analysis with 20+ regex patterns detecting API keys, hardcoded secrets, internal endpoints, eval() usage.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DESIGN AND METHODOLOGY (contd.)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Maps each finding to OWASP Top 10 (2021) categories (A01–A10)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Enriches with CWE ID, CWE Name, CVSS Score, CVSS Vector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Knowledge-base driven via owasp_mapping.json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Intelligent inference engine for unmapped findings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Generates grouped OWASP compliance summary for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918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Base score: 100/100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CRITICAL finding: −25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HIGH finding: −15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MEDIUM finding: −8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LOW finding: −3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INFO finding: −1 pt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Letter grade: A (90+), B (80+), C (70+), D (60+), F (&lt;60)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auto-generated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Professional multi-page layout using ReportLab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with score &amp; grade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Per-module findings tables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Color-coded severity indicators (CRITICAL → INFO)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OWASP compliance summary table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Remediation recommendations for each finding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Page numbers and branded footer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05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Architecture Overview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Scan Form</a:t>
            </a:r>
            <a:br/>
            <a:r>
              <a:t>(Module Select)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Live Progress</a:t>
            </a:r>
            <a:br/>
            <a:r>
              <a:t>(SSE Stream)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Results Dashboard</a:t>
            </a:r>
            <a:br/>
            <a:r>
              <a:t>(Score,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399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/>
              </a:defRPr>
            </a:pPr>
            <a:r>
              <a:t>▼  REST API + SSE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SCANNER MODULES (Flask Backend)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Header Scanner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SSL/TLS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DNS Recon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Tech Fingerprint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Web Crawler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XSS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SQLi Scanner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JS Analyzer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Favicon Analyzer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POST-PROCESSING &amp;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200400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CWE + CVSS Enrichment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767328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785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Weighted A–F Grading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334256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PDF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ReportLab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01183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0" y="49194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Notifier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194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Slack + Email Alerts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468112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SQLite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ScanTask + ScanEvent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06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Key Technologies, Libraries &amp; Code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67528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rPr lang="en-US" dirty="0"/>
              <a:t>  </a:t>
            </a:r>
            <a:r>
              <a:rPr dirty="0"/>
              <a:t>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56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Backend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56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Flask 3.x with Jinja2 templating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9152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386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86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SQLite via SQLAlchemy 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89504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916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16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socket, ssl, requests, BeautifulSoup4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19856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447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DNS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47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dnspython for record enumeration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50208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ReportLab for PDF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80560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507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07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Server-Sent Events (SSE) streaming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10912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0383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0383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Slack Webhooks + SMTP email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41264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5686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568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HTML5 / CSS3 / Vanilla JavaScript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Project Structure &amp; Key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app.py — Main Flask application, routes &amp; SSE endpoint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scanners/ — 10 independent scanner modules (plug-and-play)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owasp_mapper.py — OWASP Top 10 enrichment engine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score_engine.py — Severity-weighted scoring (100-point scale)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pdf_generator.py — Multi-page PDF report builder (ReportLab)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notifier.py — Slack webhook &amp; email notification service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models.py — SQLAlchemy models (ScanTask, ScanEvent)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templates/ — Jinja2 HTML templates (scan form, results, history)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static/ — CSS, JavaScript, and assets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owasp_mapping.json — CWE/CVSS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07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Sample Scan Outputs &amp; Performance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testphp.vulnweb.com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Grade: D (52/100)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14 Critical, 8 High, 12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example.com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Grade: A (95/100)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 Critical, 1 High, 2 Medium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demo.testfire.net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Grade: F (38/100)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22 Critical, 15 High, 8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10698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Detection Capabilities &amp;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Vulnerability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23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XSS, SQLi, weak SSL, exposed ports, missing headers, JS secrets, CSRF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Scan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622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Full 10-module scan completes in 30–90 seconds depending on target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OWASP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0118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Maps findings to all 10 OWASP Top 10 (2021) categories with CWE &amp; CVSS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0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Report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4009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Professional multi-page PDF with executive summary, module findings, and remediation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79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7790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Low false-positive rate through error-signature matching and multi-pattern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08  INDUSTRY RELEVANCE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DevSecOps</a:t>
            </a:r>
            <a:r>
              <a:rPr dirty="0"/>
              <a:t>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Integrates into CI/CD pipelines via REST API for automated security checks on every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Compliance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OWASP mapping with CWE/CVSS supports PCI-DSS (Req 6.5, 6.6), ISO 27001, and NIST SP 800-53.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Serves as recon and automated assessment tool in initial phases of pentesting engagements.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Bug Bounty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Rapid surface-level assessment of target applications before deep manual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SME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Enterprise-grade scanning at zero cost for startups and small businesses.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Education &amp;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Open-source modular design — excellent for learning how vulnerability scanners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09 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Technical &amp; Practical Challenges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Calibri"/>
              </a:defRPr>
            </a:pPr>
            <a:r>
              <a:rPr dirty="0"/>
              <a:t>  False Positive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Automated scanners inherently produce false positives. Flux mitigates this through multi-pattern signature matching, error-string correlation, and threshold-based validation to improve detection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2984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Calibri"/>
              </a:defRPr>
            </a:pPr>
            <a:r>
              <a:rPr dirty="0"/>
              <a:t>  Rate Limiting &amp; WAF Evasion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Target websites often employ WAFs and rate limiters. Implementing adaptive delays, request throttling, and respectful scanning to avoid triggering defenses while maintaining scan completeness.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Calibri"/>
              </a:defRPr>
            </a:pPr>
            <a:r>
              <a:rPr dirty="0"/>
              <a:t>  Dynamic Content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Modern SPAs with JavaScript-rendered content are invisible to static crawlers. Current BFS crawler captures server-rendered HTML; DAST integration is planned for dynamic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1272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8A04"/>
                </a:solidFill>
                <a:latin typeface="Calibri"/>
              </a:defRPr>
            </a:pPr>
            <a:r>
              <a:rPr dirty="0"/>
              <a:t>  SSL/TLS 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Different servers support varying TLS versions and cipher suites. The scanner must gracefully handle connection failures, self-signed certificates, and expired certs without crashing.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999"/>
                </a:solidFill>
                <a:latin typeface="Calibri"/>
              </a:defRPr>
            </a:pPr>
            <a:r>
              <a:rPr dirty="0"/>
              <a:t>  Scalability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Single-threaded Flask with SQLite limits concurrent scans. Future versions will implement async I/O (asyncio), connection pooling, and PostgreSQL for enterprise-scale deployments.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956048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Ethical &amp; Legal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Ensuring the tool is used only on authorized targets. Flux logs all scan activity and includes prominent disclaimers about authorized usage and responsible disclosure.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10  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Responsible Use, Legal Compliance &amp; Data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rPr dirty="0"/>
              <a:t>  Ethical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Authorization Required — Flux must only be used against systems the operator has explicit, written permission to test. Unauthorized scanning is illegal under laws like CFAA (US), IT Act (India), CMA (UK).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Responsible Disclosure — Any vulnerabilities discovered should be reported to the system owner following responsible disclosure timelines (typically 90 days).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Data Minimization — Scan results contain sensitive vulnerability data. Flux stores minimal data locally (SQLite) and does not transmit findings to external servers.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No Exploitation — Flux is a detection tool, not an exploitation framework. It identifies vulnerabilities without attempting to exploit them for unauthorized access.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Transparency — All scan activities are logged with timestamps, target URLs, and selected modules for complete audit trails.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rPr dirty="0"/>
              <a:t>Legal &amp; Compliance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GDPR (EU)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 personal data collected. Scans target infrastructure, not user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61488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807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CFAA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815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Usage restricted to authorized targets only. Disclaimer enforced at scan initiation.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602736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6484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IT Act 2000 (India)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2277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Section 43/66 compliance — written authorization mandatory.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443984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4897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PCI-DSS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640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Supports requirement 6.5/6.6 for regular vulnerability assessments.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285232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53309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6052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Aligns with Annex A.12.6 (Technical Vulnerability Management).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11 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Planned Enhancements &amp;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38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rPr dirty="0"/>
              <a:t>Phase 1 — Short 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2743200" cy="274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Authenticated Scanning — Login-protected page testing with session management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Advanced Crawler — Selenium/Playwright-based crawler for SPA &amp; JavaScript-rendered content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Scheduled Scans — Cron-based recurring security assessments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Dashboard Analytics — Historical trend charts and comparative scan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rPr dirty="0"/>
              <a:t>Phase 2 — Medium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19" y="1737360"/>
            <a:ext cx="27432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DAST/IAST Integration — Dynamic testing during runtime for deeper vulnerability coverage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AI-Powered Analysis — Machine learning for false positive reduction and threat classification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API Security Testing — REST/GraphQL endpoint fuzzing and authentication bypass detection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Multi-Target Scanning — Batch scan multiple domains with consolidated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rPr dirty="0"/>
              <a:t>Phase 3 — Long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737360"/>
            <a:ext cx="2743200" cy="274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Plugin Marketplace — Community-contributed scanner modules with auto-update mechanism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Cloud Deployment — Docker + Kubernetes for scalable, distributed scanning infrastructure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Compliance Automation — Auto-generate compliance reports (SOC 2, HIPAA, PCI) from scan data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Threat Intelligence — Integration with CVE/NVD feeds for real-time vulnerability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12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demonstrates that a comprehensive, modular, and extensible web vulnerability assessment system can be built using open-source technologies. The system successfully integrates 10+ independent scanner modules covering network-layer, application-layer, and client-side vulnerabilities into a unified platform. By combining automated reconnaissance, vulnerability assessment, OWASP compliance mapping, and risk quantification, Flux provides actionable security insights accessible to security professionals, students, and small organizations alike.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999"/>
                </a:solidFill>
                <a:latin typeface="Calibri"/>
              </a:defRPr>
            </a:pPr>
            <a:r>
              <a:t>Future Enhancements:  Authenticated scanning  •  DAST/IAST integration  •  AI-powered false positive reduction  •  Plugin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Automated</a:t>
            </a:r>
            <a:br/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XSS, SQLi, weak SSL,</a:t>
            </a:r>
            <a:br/>
            <a:r>
              <a:t>exposed ports, API 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Standards</a:t>
            </a:r>
            <a:br/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OWASP Top 10 mapping</a:t>
            </a:r>
            <a:br/>
            <a:r>
              <a:t>with CWE &amp; CVSS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Risk</a:t>
            </a:r>
            <a:br/>
            <a:r>
              <a:t>Quantification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Weighted scoring engine</a:t>
            </a:r>
            <a:br/>
            <a:r>
              <a:t>→ A–F security grade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39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Professional</a:t>
            </a:r>
            <a:br/>
            <a: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39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Multi-page PDF with</a:t>
            </a:r>
            <a:br/>
            <a:r>
              <a:t>findings &amp; remediation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Real-Time</a:t>
            </a:r>
            <a:br/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Live scan progress</a:t>
            </a:r>
            <a:br/>
            <a:r>
              <a:t>via Server-Sent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13 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[1]   OWASP Foundation, "OWASP Top Ten 2021" — https://owasp.org/Top10/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[2]   MITRE Corporation, "Common Weakness Enumeration (CWE)" — https://cwe.mitre.org/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[3]   FIRST.org, "Common Vulnerability Scoring System (CVSS) v3.1" — https://www.first.org/cvss/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[4]   Verizon, "2024 Data Breach Investigations Report (DBIR)" — https://www.verizon.com/business/resources/reports/dbir/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[5]   IBM Security, "Cost of a Data Breach Report 2024" — https://www.ibm.com/reports/data-breach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[6]   NIST, "SP 800-53 Rev. 5: Security and Privacy Controls" — https://csrc.nist.gov/publications/detail/sp/800-53/rev-5/final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[7]   PCI Security Standards Council, "PCI DSS v4.0" — https://www.pcisecuritystandards.org/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[8]   Pallets Projects, "Flask Web Framework" — https://flask.palletsprojects.com/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[9]   ReportLab, "ReportLab PDF Library" — https://www.reportlab.com/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[10]  Richardson &amp; Ruby, "RESTful Web APIs" — O'Reilly Media, 2013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[11]  Stuttard &amp; Pinto, "The Web Application Hacker's Handbook" — Wiley, 2nd Ed., 2011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[12]  Mozilla Developer Network, "HTTP Security Headers" — https://developer.mozilla.org/en-US/docs/Web/HTTP/Headers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[13]  Singh et al., "Automated Vulnerability Assessment of Web Applications" — IEEE, 2021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[14]  SANS Institute, "Web Application Security Testing Cheat Sheet" — https://www.sans.org/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2769</Words>
  <Application>Microsoft Office PowerPoint</Application>
  <PresentationFormat>Widescreen</PresentationFormat>
  <Paragraphs>301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Adwait Bodhe</cp:lastModifiedBy>
  <cp:revision>2</cp:revision>
  <dcterms:created xsi:type="dcterms:W3CDTF">2013-01-27T09:14:16Z</dcterms:created>
  <dcterms:modified xsi:type="dcterms:W3CDTF">2026-03-16T05:07:59Z</dcterms:modified>
  <cp:category/>
</cp:coreProperties>
</file>