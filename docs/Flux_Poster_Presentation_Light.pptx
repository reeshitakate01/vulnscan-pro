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111827"/>
                </a:solidFill>
                <a:latin typeface="Calibri Light"/>
              </a:defRPr>
            </a:pPr>
            <a:r>
              <a:t>Flux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66CC"/>
                </a:solidFill>
                <a:latin typeface="Calibri"/>
              </a:defRPr>
            </a:pPr>
            <a:r>
              <a:t>Automated Web Vulnerability Assessment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0" y="3474720"/>
            <a:ext cx="2743200" cy="27432"/>
          </a:xfrm>
          <a:prstGeom prst="round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84048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B5563"/>
                </a:solidFill>
                <a:latin typeface="Calibri"/>
              </a:defRPr>
            </a:pPr>
            <a:r>
              <a:t>A modular, open-source platform for comprehensive web security auditing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75488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09999"/>
                </a:solidFill>
                <a:latin typeface="Calibri"/>
              </a:defRPr>
            </a:pPr>
            <a:r>
              <a:t>Python  •  Flask  •  SQLAlchemy  •  BeautifulSoup  •  ReportLab  •  SSE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0" y="6803136"/>
            <a:ext cx="12191695" cy="54864"/>
          </a:xfrm>
          <a:prstGeom prst="round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54864" cy="41148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2976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66CC"/>
                </a:solidFill>
                <a:latin typeface="Calibri"/>
              </a:defRPr>
            </a:pPr>
            <a:r>
              <a:t>01  INTRODUCTION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106984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46304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F2937"/>
                </a:solidFill>
                <a:latin typeface="Calibri"/>
              </a:defRPr>
            </a:pPr>
            <a:r>
              <a:t>Web applications are the primary interface for businesses, governments, and individuals on the internet, making them a prime target for cyber attacks. As the threat landscape evolves with increasing sophistication, manual security assessments are no longer sufficient to keep pace with the volume and complexity of vulnerabilities.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51760"/>
            <a:ext cx="9966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F2937"/>
                </a:solidFill>
                <a:latin typeface="Calibri"/>
              </a:defRPr>
            </a:pPr>
            <a:r>
              <a:t>Flux is an automated, modular web vulnerability assessment system designed to perform comprehensive security audits of web applications. Inspired by industry-standard tools like Tenable Nessus, it provides an integrated platform that combines multiple scanning techniques — from port scanning and SSL/TLS inspection to injection testing and JavaScript analysis — into a single, easy-to-use tool.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4206240"/>
            <a:ext cx="1737360" cy="14630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00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434340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1F2937"/>
                </a:solidFill>
                <a:latin typeface="Calibri"/>
              </a:defRPr>
            </a:pPr>
            <a:r>
              <a:t>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84632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11827"/>
                </a:solidFill>
                <a:latin typeface="Calibri"/>
              </a:defRPr>
            </a:pPr>
            <a:r>
              <a:t>10+ Scanner</a:t>
            </a:r>
            <a:br/>
            <a:r>
              <a:t>Modules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08960" y="4206240"/>
            <a:ext cx="1737360" cy="14630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00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46120" y="434340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1F2937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484632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11827"/>
                </a:solidFill>
                <a:latin typeface="Calibri"/>
              </a:defRPr>
            </a:pPr>
            <a:r>
              <a:t>Security Score</a:t>
            </a:r>
            <a:br/>
            <a:r>
              <a:t>(A–F Grade)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20640" y="4206240"/>
            <a:ext cx="1737360" cy="14630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00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57800" y="434340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1F2937"/>
                </a:solidFill>
                <a:latin typeface="Calibri"/>
              </a:defRPr>
            </a:pPr>
            <a:r>
              <a:t>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484632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11827"/>
                </a:solidFill>
                <a:latin typeface="Calibri"/>
              </a:defRPr>
            </a:pPr>
            <a:r>
              <a:t>OWASP Top 10</a:t>
            </a:r>
            <a:br/>
            <a:r>
              <a:t>Mapping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0" y="4206240"/>
            <a:ext cx="1737360" cy="14630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00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69480" y="434340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1F2937"/>
                </a:solidFill>
                <a:latin typeface="Calibri"/>
              </a:defRPr>
            </a:pPr>
            <a:r>
              <a:t>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484632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11827"/>
                </a:solidFill>
                <a:latin typeface="Calibri"/>
              </a:defRPr>
            </a:pPr>
            <a:r>
              <a:t>PDF Report</a:t>
            </a:r>
            <a:br/>
            <a:r>
              <a:t>Generation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0" y="4206240"/>
            <a:ext cx="1737360" cy="14630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00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81160" y="434340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1F2937"/>
                </a:solidFill>
                <a:latin typeface="Calibri"/>
              </a:defRPr>
            </a:pPr>
            <a:r>
              <a:t>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484632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11827"/>
                </a:solidFill>
                <a:latin typeface="Calibri"/>
              </a:defRPr>
            </a:pPr>
            <a:r>
              <a:t>Real-Time</a:t>
            </a:r>
            <a:br/>
            <a:r>
              <a:t>SSE Streaming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54864" cy="41148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2976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66CC"/>
                </a:solidFill>
                <a:latin typeface="Calibri"/>
              </a:defRPr>
            </a:pPr>
            <a:r>
              <a:t>02  OBJECTIVES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1069848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463040"/>
            <a:ext cx="97840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➊  Automate Vulnerability Detection — Build an end-to-end system that automatically identifies XSS, SQL Injection, insecure headers, weak SSL/TLS, and exposed services.</a:t>
            </a:r>
          </a:p>
          <a:p>
            <a:pPr>
              <a:spcAft>
                <a:spcPts val="12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➋  Modular &amp; Extensible Architecture — Design a plug-and-play scanner where each module operates independently and can be selected per scan.</a:t>
            </a:r>
          </a:p>
          <a:p>
            <a:pPr>
              <a:spcAft>
                <a:spcPts val="12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➌  OWASP Top 10 Compliance Mapping — Map every finding to OWASP Top 10 (2021) categories with CWE IDs and CVSS scores.</a:t>
            </a:r>
          </a:p>
          <a:p>
            <a:pPr>
              <a:spcAft>
                <a:spcPts val="12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➍  Quantified Security Scoring — Implement a severity-weighted scoring engine computing a grade (A–F) from 0–100.</a:t>
            </a:r>
          </a:p>
          <a:p>
            <a:pPr>
              <a:spcAft>
                <a:spcPts val="12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➎  Professional Reporting — Generate detailed PDF reports with categorized findings, severity levels, and remediation recommendations.</a:t>
            </a:r>
          </a:p>
          <a:p>
            <a:pPr>
              <a:spcAft>
                <a:spcPts val="12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➏  Real-Time Scan Monitoring — Provide live progress via Server-Sent Events (SSE) streaming.</a:t>
            </a:r>
          </a:p>
          <a:p>
            <a:pPr>
              <a:spcAft>
                <a:spcPts val="12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➐  Notification Integration — Support Slack webhook and email notifications upon scan completion.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54864" cy="41148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2976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66CC"/>
                </a:solidFill>
                <a:latin typeface="Calibri"/>
              </a:defRPr>
            </a:pPr>
            <a:r>
              <a:t>03  MOTIVATION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2560320" cy="2286000"/>
          </a:xfrm>
          <a:prstGeom prst="roundRect">
            <a:avLst/>
          </a:prstGeom>
          <a:solidFill>
            <a:srgbClr val="F0F4F8"/>
          </a:solidFill>
          <a:ln w="254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DC2626"/>
                </a:solidFill>
                <a:latin typeface="Calibri"/>
              </a:defRPr>
            </a:pPr>
            <a:r>
              <a:t>40%+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F2937"/>
                </a:solidFill>
                <a:latin typeface="Calibri"/>
              </a:defRPr>
            </a:pPr>
            <a:r>
              <a:t>of data breaches</a:t>
            </a:r>
            <a:br/>
            <a:r>
              <a:t>target web apps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260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B5563"/>
                </a:solidFill>
                <a:latin typeface="Calibri"/>
              </a:defRPr>
            </a:pPr>
            <a:r>
              <a:t>Verizon DBIR 2024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1188720"/>
            <a:ext cx="2560320" cy="2286000"/>
          </a:xfrm>
          <a:prstGeom prst="roundRect">
            <a:avLst/>
          </a:prstGeom>
          <a:solidFill>
            <a:srgbClr val="F0F4F8"/>
          </a:solidFill>
          <a:ln w="254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9040" y="137160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A580C"/>
                </a:solidFill>
                <a:latin typeface="Calibri"/>
              </a:defRPr>
            </a:pPr>
            <a:r>
              <a:t>$4.88M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40" y="210312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F2937"/>
                </a:solidFill>
                <a:latin typeface="Calibri"/>
              </a:defRPr>
            </a:pPr>
            <a:r>
              <a:t>average cost of</a:t>
            </a:r>
            <a:br/>
            <a:r>
              <a:t>a data breach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40" y="29260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B5563"/>
                </a:solidFill>
                <a:latin typeface="Calibri"/>
              </a:defRPr>
            </a:pPr>
            <a:r>
              <a:t>IBM Security 2024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188720"/>
            <a:ext cx="2560320" cy="2286000"/>
          </a:xfrm>
          <a:prstGeom prst="roundRect">
            <a:avLst/>
          </a:prstGeom>
          <a:solidFill>
            <a:srgbClr val="F0F4F8"/>
          </a:solidFill>
          <a:ln w="25400">
            <a:solidFill>
              <a:srgbClr val="CA8A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37160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CA8A04"/>
                </a:solidFill>
                <a:latin typeface="Calibri"/>
              </a:defRPr>
            </a:pPr>
            <a:r>
              <a:t>10+ yrs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10312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F2937"/>
                </a:solidFill>
                <a:latin typeface="Calibri"/>
              </a:defRPr>
            </a:pPr>
            <a:r>
              <a:t>XSS &amp; SQLi in</a:t>
            </a:r>
            <a:br/>
            <a:r>
              <a:t>OWASP Top 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9260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B5563"/>
                </a:solidFill>
                <a:latin typeface="Calibri"/>
              </a:defRPr>
            </a:pPr>
            <a:r>
              <a:t>OWASP Foundation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35440" y="1188720"/>
            <a:ext cx="2560320" cy="2286000"/>
          </a:xfrm>
          <a:prstGeom prst="roundRect">
            <a:avLst/>
          </a:prstGeom>
          <a:solidFill>
            <a:srgbClr val="F0F4F8"/>
          </a:solidFill>
          <a:ln w="2540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20" y="137160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284C7"/>
                </a:solidFill>
                <a:latin typeface="Calibri"/>
              </a:defRPr>
            </a:pPr>
            <a:r>
              <a:t>$$$$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210312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F2937"/>
                </a:solidFill>
                <a:latin typeface="Calibri"/>
              </a:defRPr>
            </a:pPr>
            <a:r>
              <a:t>commercial tools</a:t>
            </a:r>
            <a:br/>
            <a:r>
              <a:t>are expensive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29260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B5563"/>
                </a:solidFill>
                <a:latin typeface="Calibri"/>
              </a:defRPr>
            </a:pPr>
            <a:r>
              <a:t>Nessus, Burp Suite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840480"/>
            <a:ext cx="1069848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4114800"/>
            <a:ext cx="98755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🔓  Gap in Affordable Tools — Enterprise scanners (Nessus, Burp Suite, Qualys) are expensive. Need for open-source, lightweight alternatives for students, startups, and small teams.</a:t>
            </a:r>
          </a:p>
          <a:p>
            <a:pPr>
              <a:spcAft>
                <a:spcPts val="14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📜  Compliance Requirements — GDPR, PCI-DSS (Req 6.5, 6.6), HIPAA, and ISO 27001 mandate regular security assessments. Automated tools simplify compliance.</a:t>
            </a:r>
          </a:p>
          <a:p>
            <a:pPr>
              <a:spcAft>
                <a:spcPts val="14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🎓  Educational Value — Building a scanner from scratch provides deep understanding of web security, network protocols, and offensive security techniques.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54864" cy="41148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2976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66CC"/>
                </a:solidFill>
                <a:latin typeface="Calibri"/>
              </a:defRPr>
            </a:pPr>
            <a:r>
              <a:t>04 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80467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B5563"/>
                </a:solidFill>
                <a:latin typeface="Calibri"/>
              </a:defRPr>
            </a:pPr>
            <a:r>
              <a:t>Phase 1: Information Gathering  →  Phase 2: Vulnerability Assessment  →  Phase 3: Analysis &amp; Reporting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502920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25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999"/>
                </a:solidFill>
                <a:latin typeface="Calibri"/>
              </a:defRPr>
            </a:pPr>
            <a:r>
              <a:t>PHASE 1 — Information Gathering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Port Scanner — TCP connect scan on top 30+ common ports using 50 concurrent threads. Identifies open services &amp; flags dangerous ports (FTP, Telnet, DB ports).</a:t>
            </a:r>
          </a:p>
          <a:p>
            <a:pPr>
              <a:spcAft>
                <a:spcPts val="14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DNS Recon — Enumerates A, AAAA, MX, NS, TXT, SOA records. Tests for zone transfer vulnerability. Checks SPF &amp; DMARC presence.</a:t>
            </a:r>
          </a:p>
          <a:p>
            <a:pPr>
              <a:spcAft>
                <a:spcPts val="14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Tech Fingerprinting — Analyzes HTTP headers (Server, X-Powered-By), HTML meta tags, script sources, and favicon hashes to identify technologies and known CVEs.</a:t>
            </a:r>
          </a:p>
          <a:p>
            <a:pPr>
              <a:spcAft>
                <a:spcPts val="14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Web Crawler — Recursive BFS crawl (depth=2). Extracts all forms with input fields and external JavaScript file URLs for downstream analysis.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188720"/>
            <a:ext cx="521208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3258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66CC"/>
                </a:solidFill>
                <a:latin typeface="Calibri"/>
              </a:defRPr>
            </a:pPr>
            <a:r>
              <a:t>PHASE 2 — Vulnerability Assessment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8288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XSS Scanner — Injects 4 payloads (&lt;script&gt;, &lt;img onerror&gt;, javascript:, &lt;svg/onload&gt;) into form fields. Detects reflected XSS via response body analysis.</a:t>
            </a:r>
          </a:p>
          <a:p>
            <a:pPr>
              <a:spcAft>
                <a:spcPts val="12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SQL Injection Scanner — Tests 5 error-based payloads (OR '1'='1, UNION SELECT, etc.). Detects via SQL error strings and HTTP 500 responses.</a:t>
            </a:r>
          </a:p>
          <a:p>
            <a:pPr>
              <a:spcAft>
                <a:spcPts val="12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Security Headers — Analyzes 8+ HTTP headers: Content-Security-Policy, HSTS, X-Frame-Options, X-Content-Type, Permissions-Policy, etc.</a:t>
            </a:r>
          </a:p>
          <a:p>
            <a:pPr>
              <a:spcAft>
                <a:spcPts val="12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SSL/TLS Scanner — Validates certificates, checks expiry, detects self-signed certs, probes TLS versions (1.0–1.3), identifies weak ciphers (RC4, DES).</a:t>
            </a:r>
          </a:p>
          <a:p>
            <a:pPr>
              <a:spcAft>
                <a:spcPts val="12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JavaScript Analyzer — Static analysis with 20+ regex patterns detecting API keys, hardcoded secrets, internal endpoints, eval() usage.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54864" cy="41148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2976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66CC"/>
                </a:solidFill>
                <a:latin typeface="Calibri"/>
              </a:defRPr>
            </a:pPr>
            <a:r>
              <a:t>04  METHODOLOGY (contd.)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80467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B5563"/>
                </a:solidFill>
                <a:latin typeface="Calibri"/>
              </a:defRPr>
            </a:pPr>
            <a:r>
              <a:t>Phase 3: Analysis &amp; Reporting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347472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999"/>
                </a:solidFill>
                <a:latin typeface="Calibri"/>
              </a:defRPr>
            </a:pPr>
            <a:r>
              <a:t>OWASP Mapper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92024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Maps each finding to OWASP Top 10 (2021) categories (A01–A10)</a:t>
            </a:r>
          </a:p>
          <a:p>
            <a:pPr>
              <a:spcAft>
                <a:spcPts val="12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Enriches with CWE ID, CWE Name, CVSS Score, CVSS Vector</a:t>
            </a:r>
          </a:p>
          <a:p>
            <a:pPr>
              <a:spcAft>
                <a:spcPts val="12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Knowledge-base driven via owasp_mapping.json</a:t>
            </a:r>
          </a:p>
          <a:p>
            <a:pPr>
              <a:spcAft>
                <a:spcPts val="12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Intelligent inference engine for unmapped findings</a:t>
            </a:r>
          </a:p>
          <a:p>
            <a:pPr>
              <a:spcAft>
                <a:spcPts val="12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Generates grouped OWASP compliance summary for reports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188720"/>
            <a:ext cx="329184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3716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66CC"/>
                </a:solidFill>
                <a:latin typeface="Calibri"/>
              </a:defRPr>
            </a:pPr>
            <a:r>
              <a:t>Score 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920240"/>
            <a:ext cx="2834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Base score: 100/100</a:t>
            </a:r>
          </a:p>
          <a:p>
            <a:pPr>
              <a:spcAft>
                <a:spcPts val="10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CRITICAL finding: −25 pts</a:t>
            </a:r>
          </a:p>
          <a:p>
            <a:pPr>
              <a:spcAft>
                <a:spcPts val="10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HIGH finding: −15 pts</a:t>
            </a:r>
          </a:p>
          <a:p>
            <a:pPr>
              <a:spcAft>
                <a:spcPts val="10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MEDIUM finding: −8 pts</a:t>
            </a:r>
          </a:p>
          <a:p>
            <a:pPr>
              <a:spcAft>
                <a:spcPts val="10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LOW finding: −3 pts</a:t>
            </a:r>
          </a:p>
          <a:p>
            <a:pPr>
              <a:spcAft>
                <a:spcPts val="10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INFO finding: −1 pt</a:t>
            </a:r>
          </a:p>
          <a:p>
            <a:pPr>
              <a:spcAft>
                <a:spcPts val="10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Letter grade: A (90+), B (80+), C (70+), D (60+), F (&lt;60)</a:t>
            </a:r>
          </a:p>
          <a:p>
            <a:pPr>
              <a:spcAft>
                <a:spcPts val="10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Executive summary auto-generated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188720"/>
            <a:ext cx="338328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3716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A580C"/>
                </a:solidFill>
                <a:latin typeface="Calibri"/>
              </a:defRPr>
            </a:pPr>
            <a:r>
              <a:t>PDF Report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192024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Professional multi-page layout using ReportLab</a:t>
            </a:r>
          </a:p>
          <a:p>
            <a:pPr>
              <a:spcAft>
                <a:spcPts val="11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Executive summary with score &amp; grade</a:t>
            </a:r>
          </a:p>
          <a:p>
            <a:pPr>
              <a:spcAft>
                <a:spcPts val="11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Per-module findings tables</a:t>
            </a:r>
          </a:p>
          <a:p>
            <a:pPr>
              <a:spcAft>
                <a:spcPts val="11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Color-coded severity indicators (CRITICAL → INFO)</a:t>
            </a:r>
          </a:p>
          <a:p>
            <a:pPr>
              <a:spcAft>
                <a:spcPts val="11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OWASP compliance summary table</a:t>
            </a:r>
          </a:p>
          <a:p>
            <a:pPr>
              <a:spcAft>
                <a:spcPts val="11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Remediation recommendations for each finding</a:t>
            </a:r>
          </a:p>
          <a:p>
            <a:pPr>
              <a:spcAft>
                <a:spcPts val="11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Page numbers and branded footer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54864" cy="41148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2976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66CC"/>
                </a:solidFill>
                <a:latin typeface="Calibri"/>
              </a:defRPr>
            </a:pPr>
            <a:r>
              <a:t>05  SYSTEM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80467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B5563"/>
                </a:solidFill>
                <a:latin typeface="Calibri"/>
              </a:defRPr>
            </a:pPr>
            <a:r>
              <a:t>Architecture Overview &amp; Technology Stack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106984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280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66CC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645920"/>
            <a:ext cx="2286000" cy="50292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00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1664208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11827"/>
                </a:solidFill>
                <a:latin typeface="Calibri"/>
              </a:defRPr>
            </a:pPr>
            <a:r>
              <a:t>Scan Form</a:t>
            </a:r>
            <a:br/>
            <a:r>
              <a:t>(Module Select)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49039" y="1645920"/>
            <a:ext cx="2286000" cy="50292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00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79" y="1664208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11827"/>
                </a:solidFill>
                <a:latin typeface="Calibri"/>
              </a:defRPr>
            </a:pPr>
            <a:r>
              <a:t>Live Progress</a:t>
            </a:r>
            <a:br/>
            <a:r>
              <a:t>(SSE Stream)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645920"/>
            <a:ext cx="2286000" cy="50292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00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664208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11827"/>
                </a:solidFill>
                <a:latin typeface="Calibri"/>
              </a:defRPr>
            </a:pPr>
            <a:r>
              <a:t>Results Dashboard</a:t>
            </a:r>
            <a:br/>
            <a:r>
              <a:t>(Score, Grade)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52559" y="1645920"/>
            <a:ext cx="2286000" cy="50292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00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3999" y="1664208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11827"/>
                </a:solidFill>
                <a:latin typeface="Calibri"/>
              </a:defRPr>
            </a:pPr>
            <a:r>
              <a:t>PDF Download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23317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66CC"/>
                </a:solidFill>
                <a:latin typeface="Calibri"/>
              </a:defRPr>
            </a:pPr>
            <a:r>
              <a:t>▼  REST API + SSE  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651760"/>
            <a:ext cx="502920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27432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999"/>
                </a:solidFill>
                <a:latin typeface="Calibri"/>
              </a:defRPr>
            </a:pPr>
            <a:r>
              <a:t>SCANNER MODULES (Flask Backend)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" y="3200400"/>
            <a:ext cx="2103120" cy="411480"/>
          </a:xfrm>
          <a:prstGeom prst="roundRect">
            <a:avLst/>
          </a:prstGeom>
          <a:solidFill>
            <a:srgbClr val="F0F4F8"/>
          </a:solidFill>
          <a:ln w="6350">
            <a:solidFill>
              <a:srgbClr val="00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321868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11827"/>
                </a:solidFill>
                <a:latin typeface="Calibri"/>
              </a:defRPr>
            </a:pPr>
            <a:r>
              <a:t>Port Scanner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83280" y="3200400"/>
            <a:ext cx="2103120" cy="411480"/>
          </a:xfrm>
          <a:prstGeom prst="roundRect">
            <a:avLst/>
          </a:prstGeom>
          <a:solidFill>
            <a:srgbClr val="F0F4F8"/>
          </a:solidFill>
          <a:ln w="6350">
            <a:solidFill>
              <a:srgbClr val="00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0" y="321868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11827"/>
                </a:solidFill>
                <a:latin typeface="Calibri"/>
              </a:defRPr>
            </a:pPr>
            <a:r>
              <a:t>Header Scanner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05840" y="3749039"/>
            <a:ext cx="2103120" cy="411480"/>
          </a:xfrm>
          <a:prstGeom prst="roundRect">
            <a:avLst/>
          </a:prstGeom>
          <a:solidFill>
            <a:srgbClr val="F0F4F8"/>
          </a:solidFill>
          <a:ln w="6350">
            <a:solidFill>
              <a:srgbClr val="00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3767327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11827"/>
                </a:solidFill>
                <a:latin typeface="Calibri"/>
              </a:defRPr>
            </a:pPr>
            <a:r>
              <a:t>SSL/TLS Scanner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83280" y="3749039"/>
            <a:ext cx="2103120" cy="411480"/>
          </a:xfrm>
          <a:prstGeom prst="roundRect">
            <a:avLst/>
          </a:prstGeom>
          <a:solidFill>
            <a:srgbClr val="F0F4F8"/>
          </a:solidFill>
          <a:ln w="6350">
            <a:solidFill>
              <a:srgbClr val="00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74720" y="3767327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11827"/>
                </a:solidFill>
                <a:latin typeface="Calibri"/>
              </a:defRPr>
            </a:pPr>
            <a:r>
              <a:t>DNS Recon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05840" y="4297680"/>
            <a:ext cx="2103120" cy="411480"/>
          </a:xfrm>
          <a:prstGeom prst="roundRect">
            <a:avLst/>
          </a:prstGeom>
          <a:solidFill>
            <a:srgbClr val="F0F4F8"/>
          </a:solidFill>
          <a:ln w="6350">
            <a:solidFill>
              <a:srgbClr val="00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80" y="431596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11827"/>
                </a:solidFill>
                <a:latin typeface="Calibri"/>
              </a:defRPr>
            </a:pPr>
            <a:r>
              <a:t>Tech Fingerprint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83280" y="4297680"/>
            <a:ext cx="2103120" cy="411480"/>
          </a:xfrm>
          <a:prstGeom prst="roundRect">
            <a:avLst/>
          </a:prstGeom>
          <a:solidFill>
            <a:srgbClr val="F0F4F8"/>
          </a:solidFill>
          <a:ln w="6350">
            <a:solidFill>
              <a:srgbClr val="00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74720" y="431596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11827"/>
                </a:solidFill>
                <a:latin typeface="Calibri"/>
              </a:defRPr>
            </a:pPr>
            <a:r>
              <a:t>Web Crawler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05840" y="4846320"/>
            <a:ext cx="2103120" cy="411480"/>
          </a:xfrm>
          <a:prstGeom prst="roundRect">
            <a:avLst/>
          </a:prstGeom>
          <a:solidFill>
            <a:srgbClr val="F0F4F8"/>
          </a:solidFill>
          <a:ln w="6350">
            <a:solidFill>
              <a:srgbClr val="00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97280" y="486460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11827"/>
                </a:solidFill>
                <a:latin typeface="Calibri"/>
              </a:defRPr>
            </a:pPr>
            <a:r>
              <a:t>XSS Scanner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383280" y="4846320"/>
            <a:ext cx="2103120" cy="411480"/>
          </a:xfrm>
          <a:prstGeom prst="roundRect">
            <a:avLst/>
          </a:prstGeom>
          <a:solidFill>
            <a:srgbClr val="F0F4F8"/>
          </a:solidFill>
          <a:ln w="6350">
            <a:solidFill>
              <a:srgbClr val="00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74720" y="486460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11827"/>
                </a:solidFill>
                <a:latin typeface="Calibri"/>
              </a:defRPr>
            </a:pPr>
            <a:r>
              <a:t>SQLi Scanner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05840" y="5394960"/>
            <a:ext cx="2103120" cy="411480"/>
          </a:xfrm>
          <a:prstGeom prst="roundRect">
            <a:avLst/>
          </a:prstGeom>
          <a:solidFill>
            <a:srgbClr val="F0F4F8"/>
          </a:solidFill>
          <a:ln w="6350">
            <a:solidFill>
              <a:srgbClr val="00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97280" y="541324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11827"/>
                </a:solidFill>
                <a:latin typeface="Calibri"/>
              </a:defRPr>
            </a:pPr>
            <a:r>
              <a:t>JS Analyzer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383280" y="5394960"/>
            <a:ext cx="2103120" cy="411480"/>
          </a:xfrm>
          <a:prstGeom prst="roundRect">
            <a:avLst/>
          </a:prstGeom>
          <a:solidFill>
            <a:srgbClr val="F0F4F8"/>
          </a:solidFill>
          <a:ln w="6350">
            <a:solidFill>
              <a:srgbClr val="00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474720" y="541324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11827"/>
                </a:solidFill>
                <a:latin typeface="Calibri"/>
              </a:defRPr>
            </a:pPr>
            <a:r>
              <a:t>Favicon Analyzer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7920" y="2651760"/>
            <a:ext cx="521208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0" y="2743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A580C"/>
                </a:solidFill>
                <a:latin typeface="Calibri"/>
              </a:defRPr>
            </a:pPr>
            <a:r>
              <a:t>POST-PROCESSING &amp; OUTPUT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92240" y="3200400"/>
            <a:ext cx="4663440" cy="457200"/>
          </a:xfrm>
          <a:prstGeom prst="roundRect">
            <a:avLst/>
          </a:prstGeom>
          <a:solidFill>
            <a:srgbClr val="F0F4F8"/>
          </a:solidFill>
          <a:ln w="635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75120" y="321868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A580C"/>
                </a:solidFill>
                <a:latin typeface="Calibri"/>
              </a:defRPr>
            </a:pPr>
            <a:r>
              <a:t>OWASP Mapper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0" y="321868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B5563"/>
                </a:solidFill>
                <a:latin typeface="Calibri"/>
              </a:defRPr>
            </a:pPr>
            <a:r>
              <a:t>CWE + CVSS Enrichment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92240" y="3767328"/>
            <a:ext cx="4663440" cy="457200"/>
          </a:xfrm>
          <a:prstGeom prst="roundRect">
            <a:avLst/>
          </a:prstGeom>
          <a:solidFill>
            <a:srgbClr val="F0F4F8"/>
          </a:solidFill>
          <a:ln w="635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675120" y="3785616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A580C"/>
                </a:solidFill>
                <a:latin typeface="Calibri"/>
              </a:defRPr>
            </a:pPr>
            <a:r>
              <a:t>Score Engine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86800" y="3785616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B5563"/>
                </a:solidFill>
                <a:latin typeface="Calibri"/>
              </a:defRPr>
            </a:pPr>
            <a:r>
              <a:t>Weighted A–F Grading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492240" y="4334256"/>
            <a:ext cx="4663440" cy="457200"/>
          </a:xfrm>
          <a:prstGeom prst="roundRect">
            <a:avLst/>
          </a:prstGeom>
          <a:solidFill>
            <a:srgbClr val="F0F4F8"/>
          </a:solidFill>
          <a:ln w="635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675120" y="435254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A580C"/>
                </a:solidFill>
                <a:latin typeface="Calibri"/>
              </a:defRPr>
            </a:pPr>
            <a:r>
              <a:t>PDF Generator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86800" y="435254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B5563"/>
                </a:solidFill>
                <a:latin typeface="Calibri"/>
              </a:defRPr>
            </a:pPr>
            <a:r>
              <a:t>ReportLab Reports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492240" y="4901183"/>
            <a:ext cx="4663440" cy="457200"/>
          </a:xfrm>
          <a:prstGeom prst="roundRect">
            <a:avLst/>
          </a:prstGeom>
          <a:solidFill>
            <a:srgbClr val="F0F4F8"/>
          </a:solidFill>
          <a:ln w="635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675120" y="4919471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A580C"/>
                </a:solidFill>
                <a:latin typeface="Calibri"/>
              </a:defRPr>
            </a:pPr>
            <a:r>
              <a:t>Notifier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686800" y="4919471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B5563"/>
                </a:solidFill>
                <a:latin typeface="Calibri"/>
              </a:defRPr>
            </a:pPr>
            <a:r>
              <a:t>Slack + Email Alerts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492240" y="5468112"/>
            <a:ext cx="4663440" cy="457200"/>
          </a:xfrm>
          <a:prstGeom prst="roundRect">
            <a:avLst/>
          </a:prstGeom>
          <a:solidFill>
            <a:srgbClr val="F0F4F8"/>
          </a:solidFill>
          <a:ln w="635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675120" y="5486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A580C"/>
                </a:solidFill>
                <a:latin typeface="Calibri"/>
              </a:defRPr>
            </a:pPr>
            <a:r>
              <a:t>SQLite DB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86800" y="5486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B5563"/>
                </a:solidFill>
                <a:latin typeface="Calibri"/>
              </a:defRPr>
            </a:pPr>
            <a:r>
              <a:t>ScanTask + ScanEvent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54864" cy="41148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2976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66CC"/>
                </a:solidFill>
                <a:latin typeface="Calibri"/>
              </a:defRPr>
            </a:pPr>
            <a:r>
              <a:t>06  INDUSTRY RELEVANCE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30352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3258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66CC"/>
                </a:solidFill>
                <a:latin typeface="Calibri"/>
              </a:defRPr>
            </a:pPr>
            <a:r>
              <a:t>🔄  DevSecOps Integration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78308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F2937"/>
                </a:solidFill>
                <a:latin typeface="Calibri"/>
              </a:defRPr>
            </a:pPr>
            <a:r>
              <a:t>Integrates into CI/CD pipelines via REST API for automated security checks on every deployment.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188720"/>
            <a:ext cx="530352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0" y="13258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66CC"/>
                </a:solidFill>
                <a:latin typeface="Calibri"/>
              </a:defRPr>
            </a:pPr>
            <a:r>
              <a:t>📜  Compliance &amp; Audit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178308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F2937"/>
                </a:solidFill>
                <a:latin typeface="Calibri"/>
              </a:defRPr>
            </a:pPr>
            <a:r>
              <a:t>OWASP mapping with CWE/CVSS supports PCI-DSS (Req 6.5, 6.6), ISO 27001, and NIST SP 800-53.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017520"/>
            <a:ext cx="530352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1546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66CC"/>
                </a:solidFill>
                <a:latin typeface="Calibri"/>
              </a:defRPr>
            </a:pPr>
            <a:r>
              <a:t>🎯  Penetration Testing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61188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F2937"/>
                </a:solidFill>
                <a:latin typeface="Calibri"/>
              </a:defRPr>
            </a:pPr>
            <a:r>
              <a:t>Serves as recon and automated assessment tool in initial phases of pentesting engagements.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3017520"/>
            <a:ext cx="530352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31546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66CC"/>
                </a:solidFill>
                <a:latin typeface="Calibri"/>
              </a:defRPr>
            </a:pPr>
            <a:r>
              <a:t>🏆  Bug Bounty Programs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361188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F2937"/>
                </a:solidFill>
                <a:latin typeface="Calibri"/>
              </a:defRPr>
            </a:pPr>
            <a:r>
              <a:t>Rapid surface-level assessment of target applications before deep manual testing.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846320"/>
            <a:ext cx="530352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9834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66CC"/>
                </a:solidFill>
                <a:latin typeface="Calibri"/>
              </a:defRPr>
            </a:pPr>
            <a:r>
              <a:t>🏢  SME Security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44068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F2937"/>
                </a:solidFill>
                <a:latin typeface="Calibri"/>
              </a:defRPr>
            </a:pPr>
            <a:r>
              <a:t>Enterprise-grade scanning at zero cost for startups and small businesses.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4846320"/>
            <a:ext cx="530352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9400" y="49834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66CC"/>
                </a:solidFill>
                <a:latin typeface="Calibri"/>
              </a:defRPr>
            </a:pPr>
            <a:r>
              <a:t>🎓  Education &amp; Training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544068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F2937"/>
                </a:solidFill>
                <a:latin typeface="Calibri"/>
              </a:defRPr>
            </a:pPr>
            <a:r>
              <a:t>Open-source modular design — excellent for learning how vulnerability scanners work.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54864" cy="41148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2976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66CC"/>
                </a:solidFill>
                <a:latin typeface="Calibri"/>
              </a:defRPr>
            </a:pPr>
            <a:r>
              <a:t>07  CONCLUSION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106984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37160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F2937"/>
                </a:solidFill>
                <a:latin typeface="Calibri"/>
              </a:defRPr>
            </a:pPr>
            <a:r>
              <a:t>Flux demonstrates that a comprehensive, modular, and extensible web vulnerability assessment system can be built using open-source technologies. The system successfully integrates 10+ independent scanner modules covering network-layer, application-layer, and client-side vulnerabilities into a unified platform.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40480"/>
            <a:ext cx="20116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9776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1F2937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3891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66CC"/>
                </a:solidFill>
                <a:latin typeface="Calibri"/>
              </a:defRPr>
            </a:pPr>
            <a:r>
              <a:t>Automated 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8463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B5563"/>
                </a:solidFill>
                <a:latin typeface="Calibri"/>
              </a:defRPr>
            </a:pPr>
            <a:r>
              <a:t>XSS, SQLi, weak SSL, exposed ports, API key leaks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26080" y="3840480"/>
            <a:ext cx="20116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63240" y="39776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1F2937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43891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66CC"/>
                </a:solidFill>
                <a:latin typeface="Calibri"/>
              </a:defRPr>
            </a:pPr>
            <a:r>
              <a:t>Standards Compliance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48463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B5563"/>
                </a:solidFill>
                <a:latin typeface="Calibri"/>
              </a:defRPr>
            </a:pPr>
            <a:r>
              <a:t>OWASP Top 10 mapping with CWE &amp; CVSS enrichment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20640" y="3840480"/>
            <a:ext cx="20116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57800" y="39776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1F2937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43891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66CC"/>
                </a:solidFill>
                <a:latin typeface="Calibri"/>
              </a:defRPr>
            </a:pPr>
            <a:r>
              <a:t>Risk Quantification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48463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B5563"/>
                </a:solidFill>
                <a:latin typeface="Calibri"/>
              </a:defRPr>
            </a:pPr>
            <a:r>
              <a:t>Weighted scoring engine → A–F security grade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199" y="3840480"/>
            <a:ext cx="20116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52359" y="39776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1F2937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39" y="43891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66CC"/>
                </a:solidFill>
                <a:latin typeface="Calibri"/>
              </a:defRPr>
            </a:pPr>
            <a:r>
              <a:t>Professional Reports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39" y="48463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B5563"/>
                </a:solidFill>
                <a:latin typeface="Calibri"/>
              </a:defRPr>
            </a:pPr>
            <a:r>
              <a:t>Multi-page PDF with findings, remediation &amp; OWASP summary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09760" y="3840480"/>
            <a:ext cx="20116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46920" y="39776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1F2937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43891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66CC"/>
                </a:solidFill>
                <a:latin typeface="Calibri"/>
              </a:defRPr>
            </a:pPr>
            <a:r>
              <a:t>Real-Time Monitoring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48463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B5563"/>
                </a:solidFill>
                <a:latin typeface="Calibri"/>
              </a:defRPr>
            </a:pPr>
            <a:r>
              <a:t>Live scan progress via Server-Sent Events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274320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9999"/>
                </a:solidFill>
                <a:latin typeface="Calibri"/>
              </a:defRPr>
            </a:pPr>
            <a:r>
              <a:t>Future Enhancements:  Authenticated scanning  •  DAST/IAST integration  •  AI-powered false positive reduction  •  Plugin marketplace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54864" cy="41148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2976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66CC"/>
                </a:solidFill>
                <a:latin typeface="Calibri"/>
              </a:defRPr>
            </a:pPr>
            <a:r>
              <a:t>08  REFERENCES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97280"/>
            <a:ext cx="10698480" cy="5303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280160"/>
            <a:ext cx="9966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[1]  OWASP Foundation, "OWASP Top Ten 2021" — https://owasp.org/Top10/</a:t>
            </a:r>
          </a:p>
          <a:p>
            <a:pPr>
              <a:spcAft>
                <a:spcPts val="10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[2]  MITRE Corporation, "Common Weakness Enumeration (CWE)" — https://cwe.mitre.org/</a:t>
            </a:r>
          </a:p>
          <a:p>
            <a:pPr>
              <a:spcAft>
                <a:spcPts val="10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[3]  FIRST.org, "Common Vulnerability Scoring System (CVSS) v3.1" — https://www.first.org/cvss/</a:t>
            </a:r>
          </a:p>
          <a:p>
            <a:pPr>
              <a:spcAft>
                <a:spcPts val="10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[4]  Verizon, "2024 Data Breach Investigations Report (DBIR)" — https://www.verizon.com/business/resources/reports/dbir/</a:t>
            </a:r>
          </a:p>
          <a:p>
            <a:pPr>
              <a:spcAft>
                <a:spcPts val="10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[5]  IBM Security, "Cost of a Data Breach Report 2024" — https://www.ibm.com/reports/data-breach</a:t>
            </a:r>
          </a:p>
          <a:p>
            <a:pPr>
              <a:spcAft>
                <a:spcPts val="10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[6]  NIST, "SP 800-53 Rev. 5: Security and Privacy Controls" — https://csrc.nist.gov/publications/detail/sp/800-53/rev-5/final</a:t>
            </a:r>
          </a:p>
          <a:p>
            <a:pPr>
              <a:spcAft>
                <a:spcPts val="10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[7]  PCI Security Standards Council, "PCI DSS v4.0" — https://www.pcisecuritystandards.org/</a:t>
            </a:r>
          </a:p>
          <a:p>
            <a:pPr>
              <a:spcAft>
                <a:spcPts val="10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[8]  Pallets Projects, "Flask Web Framework" — https://flask.palletsprojects.com/</a:t>
            </a:r>
          </a:p>
          <a:p>
            <a:pPr>
              <a:spcAft>
                <a:spcPts val="10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[9]  ReportLab, "ReportLab PDF Library" — https://www.reportlab.com/</a:t>
            </a:r>
          </a:p>
          <a:p>
            <a:pPr>
              <a:spcAft>
                <a:spcPts val="10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[10] Richardson &amp; Ruby, "RESTful Web APIs" — O'Reilly Media, 2013</a:t>
            </a:r>
          </a:p>
          <a:p>
            <a:pPr>
              <a:spcAft>
                <a:spcPts val="10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[11] Stuttard &amp; Pinto, "The Web Application Hacker's Handbook" — Wiley, 2nd Ed., 2011</a:t>
            </a:r>
          </a:p>
          <a:p>
            <a:pPr>
              <a:spcAft>
                <a:spcPts val="10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[12] Mozilla Developer Network, "HTTP Security Headers" — https://developer.mozilla.org/en-US/docs/Web/HTTP/Headers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0" y="6803136"/>
            <a:ext cx="12191695" cy="54864"/>
          </a:xfrm>
          <a:prstGeom prst="round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